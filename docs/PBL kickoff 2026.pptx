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 object 16"/>
          <p:cNvSpPr/>
          <p:nvPr/>
        </p:nvSpPr>
        <p:spPr>
          <a:xfrm>
            <a:off x="0" y="2895600"/>
            <a:ext cx="9144000" cy="3962400"/>
          </a:xfrm>
          <a:prstGeom prst="rect">
            <a:avLst/>
          </a:prstGeom>
          <a:solidFill>
            <a:srgbClr val="A6A6A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" name="bg object 17"/>
          <p:cNvSpPr/>
          <p:nvPr/>
        </p:nvSpPr>
        <p:spPr>
          <a:xfrm>
            <a:off x="457200" y="2895599"/>
            <a:ext cx="4191000" cy="108205"/>
          </a:xfrm>
          <a:prstGeom prst="rect">
            <a:avLst/>
          </a:prstGeom>
          <a:solidFill>
            <a:srgbClr val="6D00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" name="bg object 18" descr="bg object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88252" y="5990844"/>
            <a:ext cx="2164080" cy="533401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タイトルテキスト"/>
          <p:cNvSpPr txBox="1"/>
          <p:nvPr>
            <p:ph type="title"/>
          </p:nvPr>
        </p:nvSpPr>
        <p:spPr>
          <a:xfrm>
            <a:off x="535940" y="1165300"/>
            <a:ext cx="5852796" cy="635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18" name="本文レベル1…"/>
          <p:cNvSpPr txBox="1"/>
          <p:nvPr>
            <p:ph type="body" sz="quarter" idx="1"/>
          </p:nvPr>
        </p:nvSpPr>
        <p:spPr>
          <a:xfrm>
            <a:off x="1371600" y="3840479"/>
            <a:ext cx="6400800" cy="17145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g object 16"/>
          <p:cNvSpPr/>
          <p:nvPr/>
        </p:nvSpPr>
        <p:spPr>
          <a:xfrm>
            <a:off x="2133600" y="6400798"/>
            <a:ext cx="7010400" cy="457200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bg object 17"/>
          <p:cNvSpPr/>
          <p:nvPr/>
        </p:nvSpPr>
        <p:spPr>
          <a:xfrm>
            <a:off x="0" y="6400798"/>
            <a:ext cx="2133600" cy="457200"/>
          </a:xfrm>
          <a:prstGeom prst="rect">
            <a:avLst/>
          </a:prstGeom>
          <a:solidFill>
            <a:srgbClr val="6D00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8" name="bg object 18" descr="bg object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6476998"/>
            <a:ext cx="1219200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0" name="本文レベル1…"/>
          <p:cNvSpPr txBox="1"/>
          <p:nvPr>
            <p:ph type="body" sz="half" idx="1"/>
          </p:nvPr>
        </p:nvSpPr>
        <p:spPr>
          <a:xfrm>
            <a:off x="535940" y="1183804"/>
            <a:ext cx="6048376" cy="305689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9" name="本文レベル1…"/>
          <p:cNvSpPr txBox="1"/>
          <p:nvPr>
            <p:ph type="body" sz="half" idx="1"/>
          </p:nvPr>
        </p:nvSpPr>
        <p:spPr>
          <a:xfrm>
            <a:off x="535940" y="1183804"/>
            <a:ext cx="6048376" cy="305689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48" name="本文レベル1…"/>
          <p:cNvSpPr txBox="1"/>
          <p:nvPr>
            <p:ph type="body" sz="half" idx="1"/>
          </p:nvPr>
        </p:nvSpPr>
        <p:spPr>
          <a:xfrm>
            <a:off x="457200" y="1577339"/>
            <a:ext cx="3977641" cy="45262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5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2133600" y="6400798"/>
            <a:ext cx="7010400" cy="457200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bg object 17"/>
          <p:cNvSpPr/>
          <p:nvPr/>
        </p:nvSpPr>
        <p:spPr>
          <a:xfrm>
            <a:off x="0" y="6400798"/>
            <a:ext cx="2133600" cy="457200"/>
          </a:xfrm>
          <a:prstGeom prst="rect">
            <a:avLst/>
          </a:prstGeom>
          <a:solidFill>
            <a:srgbClr val="6D00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" name="bg object 18" descr="bg object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6476998"/>
            <a:ext cx="1219200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タイトルテキスト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6" name="本文レベル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" name="スライド番号"/>
          <p:cNvSpPr txBox="1"/>
          <p:nvPr>
            <p:ph type="sldNum" sz="quarter" idx="2"/>
          </p:nvPr>
        </p:nvSpPr>
        <p:spPr>
          <a:xfrm>
            <a:off x="8560054" y="6500228"/>
            <a:ext cx="376048" cy="2072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indent="150495">
              <a:lnSpc>
                <a:spcPts val="1800"/>
              </a:lnSpc>
              <a:defRPr spc="-50" sz="1600">
                <a:solidFill>
                  <a:srgbClr val="FFFFFF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000000"/>
          </a:solidFill>
          <a:uFillTx/>
          <a:latin typeface="游ゴシック体 ミディアム"/>
          <a:ea typeface="游ゴシック体 ミディアム"/>
          <a:cs typeface="游ゴシック体 ミディアム"/>
          <a:sym typeface="游ゴシック体 ミディアム"/>
        </a:defRPr>
      </a:lvl9pPr>
    </p:bodyStyle>
    <p:otherStyle>
      <a:lvl1pPr marL="0" marR="0" indent="150495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1pPr>
      <a:lvl2pPr marL="0" marR="0" indent="0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2pPr>
      <a:lvl3pPr marL="0" marR="0" indent="0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3pPr>
      <a:lvl4pPr marL="0" marR="0" indent="0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4pPr>
      <a:lvl5pPr marL="0" marR="0" indent="0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5pPr>
      <a:lvl6pPr marL="0" marR="0" indent="0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6pPr>
      <a:lvl7pPr marL="0" marR="0" indent="0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7pPr>
      <a:lvl8pPr marL="0" marR="0" indent="0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8pPr>
      <a:lvl9pPr marL="0" marR="0" indent="0" algn="l" defTabSz="914400" rtl="0" latinLnBrk="0">
        <a:lnSpc>
          <a:spcPts val="18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游ゴシック体 ミディアム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Relationship Id="rId3" Type="http://schemas.openxmlformats.org/officeDocument/2006/relationships/hyperlink" Target="https://docs.microsoft.com/en-us/previous-versions/msdn10/ff800706(v=msdn.10)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3" Type="http://schemas.openxmlformats.org/officeDocument/2006/relationships/hyperlink" Target="https://docs.microsoft.com/en-us/previous-versions/msdn10/ff800706(v=msdn.10)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 2"/>
          <p:cNvSpPr txBox="1"/>
          <p:nvPr>
            <p:ph type="ctrTitle"/>
          </p:nvPr>
        </p:nvSpPr>
        <p:spPr>
          <a:xfrm>
            <a:off x="535939" y="1165300"/>
            <a:ext cx="5852797" cy="635001"/>
          </a:xfrm>
          <a:prstGeom prst="rect">
            <a:avLst/>
          </a:prstGeom>
        </p:spPr>
        <p:txBody>
          <a:bodyPr/>
          <a:lstStyle/>
          <a:p>
            <a:pPr indent="12700">
              <a:defRPr spc="-100" sz="4000">
                <a:solidFill>
                  <a:srgbClr val="6D002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基礎</a:t>
            </a:r>
            <a:r>
              <a:rPr spc="0"/>
              <a:t>PBL</a:t>
            </a:r>
            <a:r>
              <a:t> </a:t>
            </a:r>
            <a:r>
              <a:rPr spc="0"/>
              <a:t>II</a:t>
            </a:r>
            <a:r>
              <a:t> / </a:t>
            </a:r>
            <a:r>
              <a:rPr spc="0"/>
              <a:t>Basic</a:t>
            </a:r>
            <a:r>
              <a:t> </a:t>
            </a:r>
            <a:r>
              <a:rPr spc="0"/>
              <a:t>PBL</a:t>
            </a:r>
            <a:r>
              <a:t> II</a:t>
            </a:r>
          </a:p>
        </p:txBody>
      </p:sp>
      <p:sp>
        <p:nvSpPr>
          <p:cNvPr id="74" name="object 3"/>
          <p:cNvSpPr txBox="1"/>
          <p:nvPr/>
        </p:nvSpPr>
        <p:spPr>
          <a:xfrm>
            <a:off x="535939" y="2041600"/>
            <a:ext cx="300228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15" sz="2600">
                <a:solidFill>
                  <a:srgbClr val="6D002A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lvl1pPr>
          </a:lstStyle>
          <a:p>
            <a:pPr/>
            <a:r>
              <a:t>オリエンテーション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2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</p:spPr>
        <p:txBody>
          <a:bodyPr/>
          <a:lstStyle/>
          <a:p>
            <a:pPr indent="299084">
              <a:spcBef>
                <a:spcPts val="100"/>
              </a:spcBef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基礎</a:t>
            </a:r>
            <a:r>
              <a:t>PBL</a:t>
            </a:r>
            <a:r>
              <a:rPr spc="-100"/>
              <a:t> </a:t>
            </a:r>
            <a:r>
              <a:t>II</a:t>
            </a:r>
            <a:r>
              <a:rPr spc="-100"/>
              <a:t> / </a:t>
            </a:r>
            <a:r>
              <a:t>Basic</a:t>
            </a:r>
            <a:r>
              <a:rPr spc="-100"/>
              <a:t> </a:t>
            </a:r>
            <a:r>
              <a:t>PBL</a:t>
            </a:r>
            <a:r>
              <a:rPr spc="-100"/>
              <a:t> II</a:t>
            </a:r>
          </a:p>
        </p:txBody>
      </p:sp>
      <p:sp>
        <p:nvSpPr>
          <p:cNvPr id="77" name="object 4"/>
          <p:cNvSpPr txBox="1"/>
          <p:nvPr>
            <p:ph type="sldNum" sz="quarter" idx="4294967295"/>
          </p:nvPr>
        </p:nvSpPr>
        <p:spPr>
          <a:xfrm>
            <a:off x="8560054" y="6500228"/>
            <a:ext cx="269622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8" name="object 3"/>
          <p:cNvSpPr txBox="1"/>
          <p:nvPr/>
        </p:nvSpPr>
        <p:spPr>
          <a:xfrm>
            <a:off x="535940" y="1282165"/>
            <a:ext cx="8062594" cy="387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spc="-4" sz="20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目的 / </a:t>
            </a:r>
            <a:r>
              <a:rPr spc="-9"/>
              <a:t>Objectives</a:t>
            </a:r>
          </a:p>
          <a:p>
            <a:pPr marL="469900" marR="212090" indent="-457834">
              <a:spcBef>
                <a:spcPts val="400"/>
              </a:spcBef>
              <a:buSzPct val="100000"/>
              <a:buChar char=""/>
              <a:tabLst>
                <a:tab pos="469900" algn="l"/>
              </a:tabLst>
              <a:defRPr spc="-19" sz="20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論理設計、コンピュータアーキテクチャ、ソフトウェアの側面か</a:t>
            </a:r>
            <a:r>
              <a:rPr spc="-9"/>
              <a:t>らコンピュータシステムを理解</a:t>
            </a:r>
          </a:p>
          <a:p>
            <a:pPr marL="469900" indent="-457200">
              <a:spcBef>
                <a:spcPts val="400"/>
              </a:spcBef>
              <a:buSzPct val="100000"/>
              <a:buChar char=""/>
              <a:tabLst>
                <a:tab pos="469900" algn="l"/>
              </a:tabLst>
              <a:defRPr sz="20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Understanding</a:t>
            </a:r>
            <a:r>
              <a:rPr spc="-70"/>
              <a:t> </a:t>
            </a:r>
            <a:r>
              <a:t>computer</a:t>
            </a:r>
            <a:r>
              <a:rPr spc="-55"/>
              <a:t> </a:t>
            </a:r>
            <a:r>
              <a:t>systems</a:t>
            </a:r>
            <a:r>
              <a:rPr spc="-60"/>
              <a:t> </a:t>
            </a:r>
            <a:r>
              <a:t>from</a:t>
            </a:r>
            <a:r>
              <a:rPr spc="-39"/>
              <a:t> </a:t>
            </a:r>
            <a:r>
              <a:t>logic</a:t>
            </a:r>
            <a:r>
              <a:rPr spc="-35"/>
              <a:t> </a:t>
            </a:r>
            <a:r>
              <a:t>circuit</a:t>
            </a:r>
            <a:r>
              <a:rPr spc="-35"/>
              <a:t> </a:t>
            </a:r>
            <a:r>
              <a:rPr spc="-9"/>
              <a:t>design,</a:t>
            </a:r>
          </a:p>
          <a:p>
            <a:pPr indent="469900">
              <a:defRPr sz="20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computer</a:t>
            </a:r>
            <a:r>
              <a:rPr spc="-55"/>
              <a:t> </a:t>
            </a:r>
            <a:r>
              <a:t>architecture,</a:t>
            </a:r>
            <a:r>
              <a:rPr spc="-55"/>
              <a:t> </a:t>
            </a:r>
            <a:r>
              <a:t>and</a:t>
            </a:r>
            <a:r>
              <a:rPr spc="-30"/>
              <a:t> </a:t>
            </a:r>
            <a:r>
              <a:t>software</a:t>
            </a:r>
            <a:r>
              <a:rPr spc="-50"/>
              <a:t> </a:t>
            </a:r>
            <a:r>
              <a:rPr spc="-9"/>
              <a:t>perspective.</a:t>
            </a:r>
          </a:p>
          <a:p>
            <a:pPr marL="469900" marR="114935" indent="-457834">
              <a:spcBef>
                <a:spcPts val="3300"/>
              </a:spcBef>
              <a:buSzPct val="100000"/>
              <a:buChar char=""/>
              <a:tabLst>
                <a:tab pos="469900" algn="l"/>
              </a:tabLst>
              <a:defRPr spc="-19" sz="20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(チーム開発を通して分散ロボット演習で学んだことの応用力をつける)</a:t>
            </a:r>
          </a:p>
          <a:p>
            <a:pPr marL="469900" marR="5080" indent="-457834">
              <a:spcBef>
                <a:spcPts val="400"/>
              </a:spcBef>
              <a:buSzPct val="100000"/>
              <a:buChar char=""/>
              <a:tabLst>
                <a:tab pos="469900" algn="l"/>
              </a:tabLst>
              <a:defRPr sz="20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(Applying</a:t>
            </a:r>
            <a:r>
              <a:rPr spc="-25"/>
              <a:t> </a:t>
            </a:r>
            <a:r>
              <a:t>the</a:t>
            </a:r>
            <a:r>
              <a:rPr spc="-35"/>
              <a:t> </a:t>
            </a:r>
            <a:r>
              <a:t>knowledge</a:t>
            </a:r>
            <a:r>
              <a:rPr spc="-35"/>
              <a:t> </a:t>
            </a:r>
            <a:r>
              <a:t>and</a:t>
            </a:r>
            <a:r>
              <a:rPr spc="-25"/>
              <a:t> </a:t>
            </a:r>
            <a:r>
              <a:t>skills</a:t>
            </a:r>
            <a:r>
              <a:rPr spc="-35"/>
              <a:t> </a:t>
            </a:r>
            <a:r>
              <a:t>you</a:t>
            </a:r>
            <a:r>
              <a:rPr spc="-25"/>
              <a:t> </a:t>
            </a:r>
            <a:r>
              <a:t>learned</a:t>
            </a:r>
            <a:r>
              <a:rPr spc="-35"/>
              <a:t> </a:t>
            </a:r>
            <a:r>
              <a:t>in</a:t>
            </a:r>
            <a:r>
              <a:rPr spc="-19"/>
              <a:t> </a:t>
            </a:r>
            <a:r>
              <a:t>the</a:t>
            </a:r>
            <a:r>
              <a:rPr spc="-25"/>
              <a:t> </a:t>
            </a:r>
            <a:r>
              <a:rPr spc="-9"/>
              <a:t>distributed </a:t>
            </a:r>
            <a:r>
              <a:t>robotics</a:t>
            </a:r>
            <a:r>
              <a:rPr spc="-39"/>
              <a:t> </a:t>
            </a:r>
            <a:r>
              <a:t>excursive</a:t>
            </a:r>
            <a:r>
              <a:rPr spc="-65"/>
              <a:t> </a:t>
            </a:r>
            <a:r>
              <a:t>through</a:t>
            </a:r>
            <a:r>
              <a:rPr spc="-25"/>
              <a:t> </a:t>
            </a:r>
            <a:r>
              <a:t>team</a:t>
            </a:r>
            <a:r>
              <a:rPr spc="-39"/>
              <a:t> </a:t>
            </a:r>
            <a:r>
              <a:rPr spc="-9"/>
              <a:t>development.)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bject 2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</p:spPr>
        <p:txBody>
          <a:bodyPr/>
          <a:lstStyle/>
          <a:p>
            <a:pPr indent="299084">
              <a:spcBef>
                <a:spcPts val="100"/>
              </a:spcBef>
              <a:defRPr spc="-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プロジェクト </a:t>
            </a:r>
            <a:r>
              <a:t>/ Project</a:t>
            </a:r>
          </a:p>
        </p:txBody>
      </p:sp>
      <p:sp>
        <p:nvSpPr>
          <p:cNvPr id="81" name="object 4"/>
          <p:cNvSpPr txBox="1"/>
          <p:nvPr>
            <p:ph type="sldNum" sz="quarter" idx="4294967295"/>
          </p:nvPr>
        </p:nvSpPr>
        <p:spPr>
          <a:xfrm>
            <a:off x="8560054" y="6500228"/>
            <a:ext cx="269622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2" name="object 3"/>
          <p:cNvSpPr txBox="1"/>
          <p:nvPr/>
        </p:nvSpPr>
        <p:spPr>
          <a:xfrm>
            <a:off x="535939" y="1275880"/>
            <a:ext cx="7946392" cy="570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700"/>
              </a:spcBef>
              <a:defRPr spc="-2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開発対象 / </a:t>
            </a:r>
            <a:r>
              <a:rPr spc="0"/>
              <a:t>Target</a:t>
            </a:r>
            <a:r>
              <a:rPr spc="-30"/>
              <a:t> </a:t>
            </a:r>
            <a:r>
              <a:rPr spc="-10"/>
              <a:t>system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三菱マイコン社製</a:t>
            </a:r>
            <a:r>
              <a:rPr spc="-10"/>
              <a:t>MU500-</a:t>
            </a:r>
            <a:r>
              <a:rPr spc="-25"/>
              <a:t>RX</a:t>
            </a:r>
          </a:p>
          <a:p>
            <a:pPr lvl="1" marL="870585" indent="-457200">
              <a:spcBef>
                <a:spcPts val="500"/>
              </a:spcBef>
              <a:buSzPct val="100000"/>
              <a:buChar char=""/>
              <a:tabLst>
                <a:tab pos="863600" algn="l"/>
              </a:tabLst>
              <a:defRPr sz="20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ALTERA</a:t>
            </a:r>
            <a:r>
              <a:rPr spc="-25"/>
              <a:t> </a:t>
            </a:r>
            <a:r>
              <a:t>Cyclone</a:t>
            </a:r>
            <a:r>
              <a:rPr spc="-9"/>
              <a:t> </a:t>
            </a:r>
            <a:r>
              <a:rPr spc="-25"/>
              <a:t>IV</a:t>
            </a:r>
          </a:p>
          <a:p>
            <a:pPr marL="469900" indent="-457200">
              <a:spcBef>
                <a:spcPts val="500"/>
              </a:spcBef>
              <a:buSzPct val="100000"/>
              <a:buChar char=""/>
              <a:tabLst>
                <a:tab pos="469900" algn="l"/>
              </a:tabLst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KAPPA3</a:t>
            </a:r>
            <a:r>
              <a:rPr spc="-20"/>
              <a:t> </a:t>
            </a:r>
            <a:r>
              <a:t>RV32I</a:t>
            </a:r>
            <a:r>
              <a:rPr spc="-30"/>
              <a:t> </a:t>
            </a:r>
            <a:r>
              <a:rPr spc="-10"/>
              <a:t>Processor</a:t>
            </a:r>
          </a:p>
          <a:p>
            <a:pPr indent="12700">
              <a:spcBef>
                <a:spcPts val="4300"/>
              </a:spcBef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開発 / </a:t>
            </a:r>
            <a:r>
              <a:rPr spc="-10"/>
              <a:t>Development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チームで開発する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Team</a:t>
            </a:r>
            <a:r>
              <a:rPr spc="-30"/>
              <a:t> </a:t>
            </a:r>
            <a:r>
              <a:rPr spc="-10"/>
              <a:t>development</a:t>
            </a:r>
          </a:p>
          <a:p>
            <a:pPr marL="469900" indent="-457200">
              <a:spcBef>
                <a:spcPts val="4300"/>
              </a:spcBef>
              <a:buSzPct val="100000"/>
              <a:buChar char=""/>
              <a:tabLst>
                <a:tab pos="469900" algn="l"/>
              </a:tabLst>
              <a:defRPr spc="-2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チーム内で合意した要求に従って開発する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Develop</a:t>
            </a:r>
            <a:r>
              <a:rPr spc="-30"/>
              <a:t> </a:t>
            </a:r>
            <a:r>
              <a:t>a</a:t>
            </a:r>
            <a:r>
              <a:rPr spc="-40"/>
              <a:t> </a:t>
            </a:r>
            <a:r>
              <a:t>software</a:t>
            </a:r>
            <a:r>
              <a:rPr spc="-30"/>
              <a:t> </a:t>
            </a:r>
            <a:r>
              <a:t>system</a:t>
            </a:r>
            <a:r>
              <a:rPr spc="-40"/>
              <a:t> </a:t>
            </a:r>
            <a:r>
              <a:t>team</a:t>
            </a:r>
            <a:r>
              <a:rPr spc="-55"/>
              <a:t> </a:t>
            </a:r>
            <a:r>
              <a:t>member</a:t>
            </a:r>
            <a:r>
              <a:rPr spc="-45"/>
              <a:t> </a:t>
            </a:r>
            <a:r>
              <a:rPr spc="-10"/>
              <a:t>agreed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bject 2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</p:spPr>
        <p:txBody>
          <a:bodyPr/>
          <a:lstStyle/>
          <a:p>
            <a:pPr indent="299084">
              <a:spcBef>
                <a:spcPts val="100"/>
              </a:spcBef>
              <a:defRPr spc="-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開発例 </a:t>
            </a:r>
            <a:r>
              <a:t>/ Examples</a:t>
            </a:r>
          </a:p>
        </p:txBody>
      </p:sp>
      <p:sp>
        <p:nvSpPr>
          <p:cNvPr id="85" name="object 4"/>
          <p:cNvSpPr txBox="1"/>
          <p:nvPr>
            <p:ph type="sldNum" sz="quarter" idx="4294967295"/>
          </p:nvPr>
        </p:nvSpPr>
        <p:spPr>
          <a:xfrm>
            <a:off x="8560054" y="6500228"/>
            <a:ext cx="269622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6" name="object 3"/>
          <p:cNvSpPr txBox="1"/>
          <p:nvPr/>
        </p:nvSpPr>
        <p:spPr>
          <a:xfrm>
            <a:off x="535940" y="1275879"/>
            <a:ext cx="4725035" cy="480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700"/>
              </a:spcBef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ゲーム / </a:t>
            </a:r>
            <a:r>
              <a:rPr spc="-20"/>
              <a:t>Game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ブロック崩し / </a:t>
            </a:r>
            <a:r>
              <a:rPr spc="0"/>
              <a:t>Block</a:t>
            </a:r>
            <a:r>
              <a:rPr spc="-15"/>
              <a:t> </a:t>
            </a:r>
            <a:r>
              <a:t>braker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人狼 / </a:t>
            </a:r>
            <a:r>
              <a:rPr spc="-10"/>
              <a:t>Werewolf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倉庫番 / </a:t>
            </a:r>
            <a:r>
              <a:rPr spc="-10"/>
              <a:t>Sokoban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5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…</a:t>
            </a:r>
          </a:p>
          <a:p>
            <a:pPr indent="12700">
              <a:spcBef>
                <a:spcPts val="4300"/>
              </a:spcBef>
              <a:defRPr spc="-1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アニメーション / Animation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花火 / </a:t>
            </a:r>
            <a:r>
              <a:rPr spc="-10"/>
              <a:t>Fireworks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5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object 2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</p:spPr>
        <p:txBody>
          <a:bodyPr/>
          <a:lstStyle/>
          <a:p>
            <a:pPr indent="549275">
              <a:spcBef>
                <a:spcPts val="100"/>
              </a:spcBef>
              <a:defRPr spc="-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スケジュール </a:t>
            </a:r>
            <a:r>
              <a:t>/ Schedule</a:t>
            </a:r>
          </a:p>
        </p:txBody>
      </p:sp>
      <p:sp>
        <p:nvSpPr>
          <p:cNvPr id="89" name="object 4"/>
          <p:cNvSpPr txBox="1"/>
          <p:nvPr>
            <p:ph type="sldNum" sz="quarter" idx="4294967295"/>
          </p:nvPr>
        </p:nvSpPr>
        <p:spPr>
          <a:xfrm>
            <a:off x="8560054" y="6500228"/>
            <a:ext cx="269622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0" name="object 3"/>
          <p:cNvSpPr txBox="1"/>
          <p:nvPr/>
        </p:nvSpPr>
        <p:spPr>
          <a:xfrm>
            <a:off x="786459" y="1498753"/>
            <a:ext cx="6889751" cy="439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700"/>
              </a:spcBef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7/</a:t>
            </a:r>
            <a:r>
              <a:t>6</a:t>
            </a:r>
            <a:r>
              <a:rPr spc="-25"/>
              <a:t> 計画、要求定義</a:t>
            </a:r>
          </a:p>
          <a:p>
            <a:pPr indent="927100">
              <a:spcBef>
                <a:spcPts val="600"/>
              </a:spcBef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Plan,</a:t>
            </a:r>
            <a:r>
              <a:rPr spc="-25"/>
              <a:t> </a:t>
            </a:r>
            <a:r>
              <a:t>Define</a:t>
            </a:r>
            <a:r>
              <a:rPr spc="-40"/>
              <a:t> </a:t>
            </a:r>
            <a:r>
              <a:t>your</a:t>
            </a:r>
            <a:r>
              <a:rPr spc="-50"/>
              <a:t> </a:t>
            </a:r>
            <a:r>
              <a:rPr spc="-10"/>
              <a:t>requirement</a:t>
            </a:r>
          </a:p>
          <a:p>
            <a:pPr indent="12700">
              <a:spcBef>
                <a:spcPts val="400"/>
              </a:spcBef>
              <a:tabLst>
                <a:tab pos="762000" algn="l"/>
                <a:tab pos="1663700" algn="l"/>
                <a:tab pos="2057400" algn="l"/>
              </a:tabLst>
              <a:defRPr spc="-2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7/</a:t>
            </a:r>
            <a:r>
              <a:t>8</a:t>
            </a:r>
            <a:r>
              <a:rPr spc="0"/>
              <a:t>	実</a:t>
            </a:r>
            <a:r>
              <a:rPr spc="-50"/>
              <a:t>装</a:t>
            </a:r>
            <a:r>
              <a:rPr spc="0"/>
              <a:t>	</a:t>
            </a:r>
            <a:r>
              <a:rPr spc="-50"/>
              <a:t>/</a:t>
            </a:r>
            <a:r>
              <a:rPr spc="0"/>
              <a:t>	</a:t>
            </a:r>
            <a:r>
              <a:rPr spc="-10"/>
              <a:t>Implementation</a:t>
            </a:r>
          </a:p>
          <a:p>
            <a:pPr indent="12700">
              <a:spcBef>
                <a:spcPts val="600"/>
              </a:spcBef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7/9</a:t>
            </a:r>
            <a:r>
              <a:rPr spc="-20"/>
              <a:t> 実装 / </a:t>
            </a:r>
            <a:r>
              <a:rPr spc="-10"/>
              <a:t>Implementation</a:t>
            </a:r>
          </a:p>
          <a:p>
            <a:pPr indent="12700">
              <a:spcBef>
                <a:spcPts val="600"/>
              </a:spcBef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7/1</a:t>
            </a:r>
            <a:r>
              <a:t>3</a:t>
            </a:r>
            <a:r>
              <a:rPr spc="-25"/>
              <a:t> 実装、テスト / </a:t>
            </a:r>
            <a:r>
              <a:t>Implementation</a:t>
            </a:r>
            <a:r>
              <a:rPr spc="-35"/>
              <a:t> </a:t>
            </a:r>
            <a:r>
              <a:t>and</a:t>
            </a:r>
            <a:r>
              <a:rPr spc="-30"/>
              <a:t> </a:t>
            </a:r>
            <a:r>
              <a:rPr spc="-20"/>
              <a:t>test</a:t>
            </a:r>
          </a:p>
          <a:p>
            <a:pPr marR="1141730" indent="12700">
              <a:lnSpc>
                <a:spcPct val="124900"/>
              </a:lnSpc>
              <a:spcBef>
                <a:spcPts val="600"/>
              </a:spcBef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7/1</a:t>
            </a:r>
            <a:r>
              <a:t>5</a:t>
            </a:r>
            <a:r>
              <a:rPr spc="-20"/>
              <a:t> プレゼンテーション作成/</a:t>
            </a:r>
            <a:r>
              <a:t>Make</a:t>
            </a:r>
            <a:r>
              <a:rPr spc="-40"/>
              <a:t> </a:t>
            </a:r>
            <a:r>
              <a:rPr spc="-50"/>
              <a:t>a </a:t>
            </a:r>
            <a:r>
              <a:t>presentation</a:t>
            </a:r>
            <a:r>
              <a:rPr spc="-55"/>
              <a:t> </a:t>
            </a:r>
            <a:r>
              <a:rPr spc="-10"/>
              <a:t>materials</a:t>
            </a:r>
          </a:p>
          <a:p>
            <a:pPr indent="12700">
              <a:spcBef>
                <a:spcPts val="600"/>
              </a:spcBef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7/1</a:t>
            </a:r>
            <a:r>
              <a:t>6</a:t>
            </a:r>
            <a:r>
              <a:rPr spc="-20"/>
              <a:t> 成果発表会 / </a:t>
            </a:r>
            <a:r>
              <a:rPr spc="-10"/>
              <a:t>Presentaiotn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object 2" descr="object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85971" y="3366515"/>
            <a:ext cx="1816607" cy="152095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5" name="object 3"/>
          <p:cNvGrpSpPr/>
          <p:nvPr/>
        </p:nvGrpSpPr>
        <p:grpSpPr>
          <a:xfrm>
            <a:off x="131062" y="1633726"/>
            <a:ext cx="2241806" cy="5125215"/>
            <a:chOff x="0" y="0"/>
            <a:chExt cx="2241804" cy="5125213"/>
          </a:xfrm>
        </p:grpSpPr>
        <p:sp>
          <p:nvSpPr>
            <p:cNvPr id="93" name="object 4"/>
            <p:cNvSpPr/>
            <p:nvPr/>
          </p:nvSpPr>
          <p:spPr>
            <a:xfrm>
              <a:off x="420624" y="0"/>
              <a:ext cx="457201" cy="4434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200" y="0"/>
                  </a:moveTo>
                  <a:lnTo>
                    <a:pt x="5400" y="0"/>
                  </a:lnTo>
                  <a:lnTo>
                    <a:pt x="5400" y="20487"/>
                  </a:lnTo>
                  <a:lnTo>
                    <a:pt x="0" y="20487"/>
                  </a:lnTo>
                  <a:lnTo>
                    <a:pt x="10800" y="21600"/>
                  </a:lnTo>
                  <a:lnTo>
                    <a:pt x="21600" y="20487"/>
                  </a:lnTo>
                  <a:lnTo>
                    <a:pt x="16200" y="20487"/>
                  </a:lnTo>
                  <a:lnTo>
                    <a:pt x="162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" name="object 5"/>
            <p:cNvSpPr/>
            <p:nvPr/>
          </p:nvSpPr>
          <p:spPr>
            <a:xfrm>
              <a:off x="0" y="4437609"/>
              <a:ext cx="2241805" cy="687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971" y="0"/>
                  </a:moveTo>
                  <a:lnTo>
                    <a:pt x="3600" y="5514"/>
                  </a:lnTo>
                  <a:lnTo>
                    <a:pt x="0" y="551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5514"/>
                  </a:lnTo>
                  <a:lnTo>
                    <a:pt x="9000" y="5514"/>
                  </a:lnTo>
                  <a:lnTo>
                    <a:pt x="5971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6" name="object 6"/>
          <p:cNvSpPr txBox="1"/>
          <p:nvPr>
            <p:ph type="title"/>
          </p:nvPr>
        </p:nvSpPr>
        <p:spPr>
          <a:xfrm>
            <a:off x="445414" y="281761"/>
            <a:ext cx="8449310" cy="574676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36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Software</a:t>
            </a:r>
            <a:r>
              <a:rPr spc="-200"/>
              <a:t> </a:t>
            </a:r>
            <a:r>
              <a:rPr spc="-100"/>
              <a:t>System </a:t>
            </a:r>
            <a:r>
              <a:t>Model:</a:t>
            </a:r>
            <a:r>
              <a:rPr spc="-100"/>
              <a:t> </a:t>
            </a:r>
            <a:r>
              <a:t>Stepwise</a:t>
            </a:r>
            <a:r>
              <a:rPr spc="-200"/>
              <a:t> </a:t>
            </a:r>
            <a:r>
              <a:rPr spc="-100"/>
              <a:t>Refinement</a:t>
            </a:r>
          </a:p>
        </p:txBody>
      </p:sp>
      <p:sp>
        <p:nvSpPr>
          <p:cNvPr id="97" name="object 7"/>
          <p:cNvSpPr txBox="1"/>
          <p:nvPr/>
        </p:nvSpPr>
        <p:spPr>
          <a:xfrm>
            <a:off x="8333358" y="6440118"/>
            <a:ext cx="10287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0" sz="1200">
                <a:solidFill>
                  <a:srgbClr val="888888"/>
                </a:solidFill>
              </a:defRPr>
            </a:lvl1pPr>
          </a:lstStyle>
          <a:p>
            <a:pPr/>
            <a:r>
              <a:t>5</a:t>
            </a:r>
          </a:p>
        </p:txBody>
      </p:sp>
      <p:pic>
        <p:nvPicPr>
          <p:cNvPr id="98" name="object 8" descr="object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60220" y="1010411"/>
            <a:ext cx="5201411" cy="478537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object 9"/>
          <p:cNvSpPr txBox="1"/>
          <p:nvPr/>
        </p:nvSpPr>
        <p:spPr>
          <a:xfrm>
            <a:off x="1760220" y="1010410"/>
            <a:ext cx="5201921" cy="247745"/>
          </a:xfrm>
          <a:prstGeom prst="rect">
            <a:avLst/>
          </a:prstGeom>
          <a:ln w="6096">
            <a:solidFill>
              <a:srgbClr val="4471C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485775">
              <a:spcBef>
                <a:spcPts val="600"/>
              </a:spcBef>
              <a:defRPr>
                <a:solidFill>
                  <a:srgbClr val="FFFFFF"/>
                </a:solidFill>
              </a:defRPr>
            </a:pPr>
            <a:r>
              <a:t>I</a:t>
            </a:r>
            <a:r>
              <a:rPr spc="-34"/>
              <a:t> </a:t>
            </a:r>
            <a:r>
              <a:t>want</a:t>
            </a:r>
            <a:r>
              <a:rPr spc="-30"/>
              <a:t> </a:t>
            </a:r>
            <a:r>
              <a:t>to</a:t>
            </a:r>
            <a:r>
              <a:rPr spc="-34"/>
              <a:t> </a:t>
            </a:r>
            <a:r>
              <a:t>measure</a:t>
            </a:r>
            <a:r>
              <a:rPr spc="-40"/>
              <a:t> </a:t>
            </a:r>
            <a:r>
              <a:t>time</a:t>
            </a:r>
            <a:r>
              <a:rPr spc="-20"/>
              <a:t> </a:t>
            </a:r>
            <a:r>
              <a:t>when</a:t>
            </a:r>
            <a:r>
              <a:rPr spc="-20"/>
              <a:t> </a:t>
            </a:r>
            <a:r>
              <a:t>I</a:t>
            </a:r>
            <a:r>
              <a:rPr spc="-30"/>
              <a:t> </a:t>
            </a:r>
            <a:r>
              <a:t>am</a:t>
            </a:r>
            <a:r>
              <a:rPr spc="-30"/>
              <a:t> </a:t>
            </a:r>
            <a:r>
              <a:rPr spc="-10"/>
              <a:t>cooking…..</a:t>
            </a:r>
          </a:p>
        </p:txBody>
      </p:sp>
      <p:pic>
        <p:nvPicPr>
          <p:cNvPr id="100" name="object 10" descr="object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72866" y="1778506"/>
            <a:ext cx="3025140" cy="478537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object 11"/>
          <p:cNvSpPr txBox="1"/>
          <p:nvPr/>
        </p:nvSpPr>
        <p:spPr>
          <a:xfrm>
            <a:off x="2372867" y="1778506"/>
            <a:ext cx="3025140" cy="247745"/>
          </a:xfrm>
          <a:prstGeom prst="rect">
            <a:avLst/>
          </a:prstGeom>
          <a:ln w="6096">
            <a:solidFill>
              <a:srgbClr val="4471C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41934">
              <a:spcBef>
                <a:spcPts val="600"/>
              </a:spcBef>
            </a:pPr>
            <a:r>
              <a:t>I</a:t>
            </a:r>
            <a:r>
              <a:rPr spc="-50"/>
              <a:t> </a:t>
            </a:r>
            <a:r>
              <a:t>want</a:t>
            </a:r>
            <a:r>
              <a:rPr spc="-40"/>
              <a:t> </a:t>
            </a:r>
            <a:r>
              <a:t>to</a:t>
            </a:r>
            <a:r>
              <a:rPr spc="-50"/>
              <a:t> </a:t>
            </a:r>
            <a:r>
              <a:t>measure</a:t>
            </a:r>
            <a:r>
              <a:rPr spc="-55"/>
              <a:t> </a:t>
            </a:r>
            <a:r>
              <a:t>any</a:t>
            </a:r>
            <a:r>
              <a:rPr spc="-40"/>
              <a:t> </a:t>
            </a:r>
            <a:r>
              <a:rPr spc="-20"/>
              <a:t>time</a:t>
            </a:r>
          </a:p>
        </p:txBody>
      </p:sp>
      <p:pic>
        <p:nvPicPr>
          <p:cNvPr id="102" name="object 12" descr="object 1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148328" y="2318004"/>
            <a:ext cx="2209801" cy="838201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object 13"/>
          <p:cNvSpPr txBox="1"/>
          <p:nvPr/>
        </p:nvSpPr>
        <p:spPr>
          <a:xfrm>
            <a:off x="4148328" y="2318004"/>
            <a:ext cx="2209801" cy="806544"/>
          </a:xfrm>
          <a:prstGeom prst="rect">
            <a:avLst/>
          </a:prstGeom>
          <a:ln w="6096">
            <a:solidFill>
              <a:srgbClr val="4471C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spc="-10"/>
            </a:pPr>
            <a:r>
              <a:t>System</a:t>
            </a:r>
            <a:r>
              <a:rPr spc="-69"/>
              <a:t> </a:t>
            </a:r>
            <a:r>
              <a:rPr spc="0"/>
              <a:t>should</a:t>
            </a:r>
            <a:r>
              <a:rPr spc="-55"/>
              <a:t> </a:t>
            </a:r>
            <a:r>
              <a:t>notify</a:t>
            </a:r>
          </a:p>
          <a:p>
            <a:pPr algn="ctr"/>
            <a:r>
              <a:t>me</a:t>
            </a:r>
            <a:r>
              <a:rPr spc="-34"/>
              <a:t> </a:t>
            </a:r>
            <a:r>
              <a:t>when</a:t>
            </a:r>
            <a:r>
              <a:rPr spc="-25"/>
              <a:t> </a:t>
            </a:r>
            <a:r>
              <a:t>the</a:t>
            </a:r>
            <a:r>
              <a:rPr spc="-25"/>
              <a:t> </a:t>
            </a:r>
            <a:r>
              <a:rPr spc="-20"/>
              <a:t>time</a:t>
            </a:r>
            <a:endParaRPr spc="-20"/>
          </a:p>
          <a:p>
            <a:pPr algn="ctr"/>
            <a:r>
              <a:t>has</a:t>
            </a:r>
            <a:r>
              <a:rPr spc="-34"/>
              <a:t> </a:t>
            </a:r>
            <a:r>
              <a:rPr spc="-10"/>
              <a:t>elapsed</a:t>
            </a:r>
          </a:p>
        </p:txBody>
      </p:sp>
      <p:sp>
        <p:nvSpPr>
          <p:cNvPr id="104" name="object 14"/>
          <p:cNvSpPr txBox="1"/>
          <p:nvPr/>
        </p:nvSpPr>
        <p:spPr>
          <a:xfrm>
            <a:off x="278992" y="6352335"/>
            <a:ext cx="194691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>
                <a:solidFill>
                  <a:srgbClr val="FFFFFF"/>
                </a:solidFill>
              </a:defRPr>
            </a:pPr>
            <a:r>
              <a:t>Stepwise</a:t>
            </a:r>
            <a:r>
              <a:rPr spc="-95"/>
              <a:t> </a:t>
            </a:r>
            <a:r>
              <a:rPr spc="-10"/>
              <a:t>refinement</a:t>
            </a:r>
          </a:p>
        </p:txBody>
      </p:sp>
      <p:grpSp>
        <p:nvGrpSpPr>
          <p:cNvPr id="107" name="object 15"/>
          <p:cNvGrpSpPr/>
          <p:nvPr/>
        </p:nvGrpSpPr>
        <p:grpSpPr>
          <a:xfrm>
            <a:off x="3521142" y="4981085"/>
            <a:ext cx="2051041" cy="1554290"/>
            <a:chOff x="0" y="0"/>
            <a:chExt cx="2051040" cy="1554289"/>
          </a:xfrm>
        </p:grpSpPr>
        <p:pic>
          <p:nvPicPr>
            <p:cNvPr id="105" name="object 16" descr="object 16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2051041" cy="15542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6" name="object 17" descr="object 17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40445" y="20681"/>
              <a:ext cx="1979677" cy="14843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10" name="object 18"/>
          <p:cNvGrpSpPr/>
          <p:nvPr/>
        </p:nvGrpSpPr>
        <p:grpSpPr>
          <a:xfrm>
            <a:off x="6771130" y="1597150"/>
            <a:ext cx="1679450" cy="1559053"/>
            <a:chOff x="0" y="0"/>
            <a:chExt cx="1679448" cy="1559052"/>
          </a:xfrm>
        </p:grpSpPr>
        <p:pic>
          <p:nvPicPr>
            <p:cNvPr id="108" name="object 19" descr="object 19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0"/>
              <a:ext cx="1679449" cy="15590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9" name="object 20"/>
            <p:cNvSpPr/>
            <p:nvPr/>
          </p:nvSpPr>
          <p:spPr>
            <a:xfrm>
              <a:off x="0" y="0"/>
              <a:ext cx="1679449" cy="1559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897"/>
                  </a:moveTo>
                  <a:lnTo>
                    <a:pt x="10800" y="0"/>
                  </a:lnTo>
                  <a:lnTo>
                    <a:pt x="21600" y="4897"/>
                  </a:lnTo>
                  <a:lnTo>
                    <a:pt x="17361" y="4897"/>
                  </a:lnTo>
                  <a:lnTo>
                    <a:pt x="17361" y="16703"/>
                  </a:lnTo>
                  <a:lnTo>
                    <a:pt x="21600" y="16703"/>
                  </a:lnTo>
                  <a:lnTo>
                    <a:pt x="10800" y="21600"/>
                  </a:lnTo>
                  <a:lnTo>
                    <a:pt x="0" y="16703"/>
                  </a:lnTo>
                  <a:lnTo>
                    <a:pt x="4239" y="16703"/>
                  </a:lnTo>
                  <a:lnTo>
                    <a:pt x="4239" y="4897"/>
                  </a:lnTo>
                  <a:lnTo>
                    <a:pt x="0" y="4897"/>
                  </a:lnTo>
                  <a:close/>
                </a:path>
              </a:pathLst>
            </a:custGeom>
            <a:noFill/>
            <a:ln w="6096" cap="flat">
              <a:solidFill>
                <a:srgbClr val="4471C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11" name="object 21"/>
          <p:cNvSpPr txBox="1"/>
          <p:nvPr/>
        </p:nvSpPr>
        <p:spPr>
          <a:xfrm>
            <a:off x="7206233" y="1950465"/>
            <a:ext cx="810261" cy="825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3334" algn="ctr">
              <a:spcBef>
                <a:spcPts val="100"/>
              </a:spcBef>
              <a:defRPr spc="-20"/>
            </a:pPr>
            <a:r>
              <a:t>What </a:t>
            </a:r>
            <a:r>
              <a:rPr spc="-25"/>
              <a:t>(Require </a:t>
            </a:r>
            <a:r>
              <a:rPr spc="-10"/>
              <a:t>ment)</a:t>
            </a:r>
          </a:p>
        </p:txBody>
      </p:sp>
      <p:sp>
        <p:nvSpPr>
          <p:cNvPr id="112" name="object 22"/>
          <p:cNvSpPr/>
          <p:nvPr/>
        </p:nvSpPr>
        <p:spPr>
          <a:xfrm>
            <a:off x="6771130" y="3241548"/>
            <a:ext cx="1679449" cy="15605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4897"/>
                </a:lnTo>
                <a:lnTo>
                  <a:pt x="4239" y="4897"/>
                </a:lnTo>
                <a:lnTo>
                  <a:pt x="4239" y="16703"/>
                </a:lnTo>
                <a:lnTo>
                  <a:pt x="0" y="16703"/>
                </a:lnTo>
                <a:lnTo>
                  <a:pt x="10800" y="21600"/>
                </a:lnTo>
                <a:lnTo>
                  <a:pt x="21600" y="16703"/>
                </a:lnTo>
                <a:lnTo>
                  <a:pt x="17361" y="16703"/>
                </a:lnTo>
                <a:lnTo>
                  <a:pt x="17361" y="4897"/>
                </a:lnTo>
                <a:lnTo>
                  <a:pt x="21600" y="4897"/>
                </a:lnTo>
                <a:lnTo>
                  <a:pt x="10800" y="0"/>
                </a:lnTo>
                <a:close/>
              </a:path>
            </a:pathLst>
          </a:custGeom>
          <a:solidFill>
            <a:srgbClr val="4471C4">
              <a:alpha val="50195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object 23"/>
          <p:cNvSpPr txBox="1"/>
          <p:nvPr/>
        </p:nvSpPr>
        <p:spPr>
          <a:xfrm>
            <a:off x="7227568" y="3732910"/>
            <a:ext cx="767716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72720">
              <a:spcBef>
                <a:spcPts val="100"/>
              </a:spcBef>
              <a:defRPr spc="-25">
                <a:solidFill>
                  <a:srgbClr val="FFFFFF"/>
                </a:solidFill>
              </a:defRPr>
            </a:pPr>
            <a:r>
              <a:t>How </a:t>
            </a:r>
            <a:r>
              <a:rPr spc="-10"/>
              <a:t>(design)</a:t>
            </a:r>
          </a:p>
        </p:txBody>
      </p:sp>
      <p:grpSp>
        <p:nvGrpSpPr>
          <p:cNvPr id="117" name="object 24"/>
          <p:cNvGrpSpPr/>
          <p:nvPr/>
        </p:nvGrpSpPr>
        <p:grpSpPr>
          <a:xfrm>
            <a:off x="6717792" y="4885930"/>
            <a:ext cx="1790320" cy="1668400"/>
            <a:chOff x="0" y="0"/>
            <a:chExt cx="1790319" cy="1668398"/>
          </a:xfrm>
        </p:grpSpPr>
        <p:pic>
          <p:nvPicPr>
            <p:cNvPr id="114" name="object 25" descr="object 25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0" y="0"/>
              <a:ext cx="1790320" cy="16683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5" name="object 26" descr="object 26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289560" y="435876"/>
              <a:ext cx="1208163" cy="8637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" name="object 27" descr="object 27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59436" y="39636"/>
              <a:ext cx="1680973" cy="15605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8" name="object 28"/>
          <p:cNvSpPr txBox="1"/>
          <p:nvPr/>
        </p:nvSpPr>
        <p:spPr>
          <a:xfrm>
            <a:off x="7192771" y="5417515"/>
            <a:ext cx="850265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pPr>
            <a:r>
              <a:t>Impleme</a:t>
            </a:r>
          </a:p>
          <a:p>
            <a:pPr indent="90169">
              <a:defRPr spc="-10">
                <a:solidFill>
                  <a:srgbClr val="FFFFFF"/>
                </a:solidFill>
              </a:defRPr>
            </a:pPr>
            <a:r>
              <a:t>ntation</a:t>
            </a:r>
          </a:p>
        </p:txBody>
      </p:sp>
      <p:sp>
        <p:nvSpPr>
          <p:cNvPr id="119" name="object 29"/>
          <p:cNvSpPr txBox="1"/>
          <p:nvPr/>
        </p:nvSpPr>
        <p:spPr>
          <a:xfrm>
            <a:off x="1026363" y="1627072"/>
            <a:ext cx="797561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10"/>
            </a:lvl1pPr>
          </a:lstStyle>
          <a:p>
            <a:pPr/>
            <a:r>
              <a:t>Abstract</a:t>
            </a:r>
          </a:p>
        </p:txBody>
      </p:sp>
      <p:sp>
        <p:nvSpPr>
          <p:cNvPr id="120" name="object 30"/>
          <p:cNvSpPr txBox="1"/>
          <p:nvPr/>
        </p:nvSpPr>
        <p:spPr>
          <a:xfrm>
            <a:off x="1047088" y="5518403"/>
            <a:ext cx="97028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10"/>
            </a:lvl1pPr>
          </a:lstStyle>
          <a:p>
            <a:pPr/>
            <a:r>
              <a:t>Concreate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object 2"/>
          <p:cNvSpPr txBox="1"/>
          <p:nvPr>
            <p:ph type="title"/>
          </p:nvPr>
        </p:nvSpPr>
        <p:spPr>
          <a:xfrm>
            <a:off x="535940" y="434085"/>
            <a:ext cx="839470" cy="51371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手順</a:t>
            </a:r>
          </a:p>
        </p:txBody>
      </p:sp>
      <p:sp>
        <p:nvSpPr>
          <p:cNvPr id="123" name="object 4"/>
          <p:cNvSpPr txBox="1"/>
          <p:nvPr>
            <p:ph type="sldNum" sz="quarter" idx="4294967295"/>
          </p:nvPr>
        </p:nvSpPr>
        <p:spPr>
          <a:xfrm>
            <a:off x="8560054" y="6500228"/>
            <a:ext cx="269622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4" name="object 3"/>
          <p:cNvSpPr txBox="1"/>
          <p:nvPr/>
        </p:nvSpPr>
        <p:spPr>
          <a:xfrm>
            <a:off x="535940" y="1276171"/>
            <a:ext cx="7718426" cy="558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684" indent="-514984">
              <a:spcBef>
                <a:spcPts val="100"/>
              </a:spcBef>
              <a:buSzPct val="100000"/>
              <a:buAutoNum type="arabicPeriod" startAt="1"/>
              <a:tabLst>
                <a:tab pos="520700" algn="l"/>
              </a:tabLst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実現したいことを決める</a:t>
            </a:r>
          </a:p>
          <a:p>
            <a:pPr indent="527684"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Decide</a:t>
            </a:r>
            <a:r>
              <a:rPr spc="-45"/>
              <a:t> </a:t>
            </a:r>
            <a:r>
              <a:t>what</a:t>
            </a:r>
            <a:r>
              <a:rPr spc="-35"/>
              <a:t> </a:t>
            </a:r>
            <a:r>
              <a:t>you</a:t>
            </a:r>
            <a:r>
              <a:rPr spc="-15"/>
              <a:t> </a:t>
            </a:r>
            <a:r>
              <a:t>want</a:t>
            </a:r>
            <a:r>
              <a:rPr spc="-30"/>
              <a:t> </a:t>
            </a:r>
            <a:r>
              <a:t>to</a:t>
            </a:r>
            <a:r>
              <a:rPr spc="-15"/>
              <a:t> </a:t>
            </a:r>
            <a:r>
              <a:rPr spc="-10"/>
              <a:t>implement.</a:t>
            </a:r>
          </a:p>
          <a:p>
            <a:pPr marL="527684" indent="-514984">
              <a:spcBef>
                <a:spcPts val="600"/>
              </a:spcBef>
              <a:buSzPct val="100000"/>
              <a:buAutoNum type="arabicPeriod" startAt="2"/>
              <a:tabLst>
                <a:tab pos="520700" algn="l"/>
              </a:tabLst>
              <a:defRPr spc="-2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実現したいことを具体的なシナリオにする</a:t>
            </a:r>
          </a:p>
          <a:p>
            <a:pPr indent="527684"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Make</a:t>
            </a:r>
            <a:r>
              <a:rPr spc="-55"/>
              <a:t> </a:t>
            </a:r>
            <a:r>
              <a:t>a</a:t>
            </a:r>
            <a:r>
              <a:rPr spc="-55"/>
              <a:t> </a:t>
            </a:r>
            <a:r>
              <a:t>concrete</a:t>
            </a:r>
            <a:r>
              <a:rPr spc="-65"/>
              <a:t> </a:t>
            </a:r>
            <a:r>
              <a:t>scenario</a:t>
            </a:r>
            <a:r>
              <a:rPr spc="-40"/>
              <a:t> </a:t>
            </a:r>
            <a:r>
              <a:t>of</a:t>
            </a:r>
            <a:r>
              <a:rPr spc="-40"/>
              <a:t> </a:t>
            </a:r>
            <a:r>
              <a:rPr spc="-25"/>
              <a:t>it</a:t>
            </a:r>
          </a:p>
          <a:p>
            <a:pPr indent="12700">
              <a:spcBef>
                <a:spcPts val="600"/>
              </a:spcBef>
              <a:defRPr spc="-2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→ フローチャートや箇条書きで振る舞いを表現する</a:t>
            </a:r>
          </a:p>
          <a:p>
            <a:pPr marR="187325" indent="480694"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Use</a:t>
            </a:r>
            <a:r>
              <a:rPr spc="-55"/>
              <a:t> </a:t>
            </a:r>
            <a:r>
              <a:t>flowcharts</a:t>
            </a:r>
            <a:r>
              <a:rPr spc="-30"/>
              <a:t> </a:t>
            </a:r>
            <a:r>
              <a:t>or</a:t>
            </a:r>
            <a:r>
              <a:rPr spc="-50"/>
              <a:t> </a:t>
            </a:r>
            <a:r>
              <a:t>bullet</a:t>
            </a:r>
            <a:r>
              <a:rPr spc="-30"/>
              <a:t> </a:t>
            </a:r>
            <a:r>
              <a:t>points</a:t>
            </a:r>
            <a:r>
              <a:rPr spc="-40"/>
              <a:t> </a:t>
            </a:r>
            <a:r>
              <a:t>to</a:t>
            </a:r>
            <a:r>
              <a:rPr spc="-35"/>
              <a:t> </a:t>
            </a:r>
            <a:r>
              <a:t>describe</a:t>
            </a:r>
            <a:r>
              <a:rPr spc="-30"/>
              <a:t> </a:t>
            </a:r>
            <a:r>
              <a:rPr spc="-25"/>
              <a:t>the </a:t>
            </a:r>
            <a:r>
              <a:t>overall</a:t>
            </a:r>
            <a:r>
              <a:rPr spc="-110"/>
              <a:t> </a:t>
            </a:r>
            <a:r>
              <a:rPr spc="-10"/>
              <a:t>behaviors</a:t>
            </a:r>
          </a:p>
          <a:p>
            <a:pPr indent="12700">
              <a:spcBef>
                <a:spcPts val="600"/>
              </a:spcBef>
              <a:defRPr spc="-2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→ ストーリーボードなどで表現する</a:t>
            </a:r>
          </a:p>
          <a:p>
            <a:pPr indent="480694"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Draw</a:t>
            </a:r>
            <a:r>
              <a:rPr spc="-20"/>
              <a:t> </a:t>
            </a:r>
            <a:r>
              <a:t>a</a:t>
            </a:r>
            <a:r>
              <a:rPr spc="-20"/>
              <a:t> </a:t>
            </a:r>
            <a:r>
              <a:t>story</a:t>
            </a:r>
            <a:r>
              <a:rPr spc="-10"/>
              <a:t> board</a:t>
            </a:r>
          </a:p>
          <a:p>
            <a:pPr marL="527684" indent="-514984">
              <a:spcBef>
                <a:spcPts val="600"/>
              </a:spcBef>
              <a:buSzPct val="100000"/>
              <a:buAutoNum type="arabicPeriod" startAt="3"/>
              <a:tabLst>
                <a:tab pos="520700" algn="l"/>
              </a:tabLst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実現方法を検討する</a:t>
            </a:r>
          </a:p>
          <a:p>
            <a:pPr indent="527684"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Consider</a:t>
            </a:r>
            <a:r>
              <a:rPr spc="-30"/>
              <a:t> </a:t>
            </a:r>
            <a:r>
              <a:t>how</a:t>
            </a:r>
            <a:r>
              <a:rPr spc="-45"/>
              <a:t> </a:t>
            </a:r>
            <a:r>
              <a:t>to</a:t>
            </a:r>
            <a:r>
              <a:rPr spc="-40"/>
              <a:t> </a:t>
            </a:r>
            <a:r>
              <a:t>implement</a:t>
            </a:r>
            <a:r>
              <a:rPr spc="-45"/>
              <a:t> </a:t>
            </a:r>
            <a:r>
              <a:rPr spc="-20"/>
              <a:t>them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 2"/>
          <p:cNvSpPr txBox="1"/>
          <p:nvPr>
            <p:ph type="title"/>
          </p:nvPr>
        </p:nvSpPr>
        <p:spPr>
          <a:xfrm>
            <a:off x="535939" y="434085"/>
            <a:ext cx="6125847" cy="51371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ストーリーボードなどで表現する</a:t>
            </a:r>
          </a:p>
        </p:txBody>
      </p:sp>
      <p:sp>
        <p:nvSpPr>
          <p:cNvPr id="127" name="object 4"/>
          <p:cNvSpPr txBox="1"/>
          <p:nvPr>
            <p:ph type="sldNum" sz="quarter" idx="4294967295"/>
          </p:nvPr>
        </p:nvSpPr>
        <p:spPr>
          <a:xfrm>
            <a:off x="8560054" y="6500228"/>
            <a:ext cx="269622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8" name="object 3"/>
          <p:cNvSpPr txBox="1"/>
          <p:nvPr/>
        </p:nvSpPr>
        <p:spPr>
          <a:xfrm>
            <a:off x="535940" y="1276172"/>
            <a:ext cx="7954644" cy="491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marR="5080" indent="-330200">
              <a:spcBef>
                <a:spcPts val="100"/>
              </a:spcBef>
              <a:defRPr spc="-2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絵を使ってユーザがどのようにシステムを使用するの</a:t>
            </a:r>
            <a:r>
              <a:rPr spc="-15"/>
              <a:t>かをストーリ仕立てで表現したもの</a:t>
            </a:r>
          </a:p>
          <a:p>
            <a:pPr marR="247015" indent="355600"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Describe</a:t>
            </a:r>
            <a:r>
              <a:rPr spc="-20"/>
              <a:t> </a:t>
            </a:r>
            <a:r>
              <a:t>a</a:t>
            </a:r>
            <a:r>
              <a:rPr spc="-30"/>
              <a:t> </a:t>
            </a:r>
            <a:r>
              <a:t>story</a:t>
            </a:r>
            <a:r>
              <a:rPr spc="-10"/>
              <a:t> </a:t>
            </a:r>
            <a:r>
              <a:t>using</a:t>
            </a:r>
            <a:r>
              <a:rPr spc="-15"/>
              <a:t> </a:t>
            </a:r>
            <a:r>
              <a:t>pictures</a:t>
            </a:r>
            <a:r>
              <a:rPr spc="-15"/>
              <a:t> </a:t>
            </a:r>
            <a:r>
              <a:t>about</a:t>
            </a:r>
            <a:r>
              <a:rPr spc="-10"/>
              <a:t> </a:t>
            </a:r>
            <a:r>
              <a:t>how</a:t>
            </a:r>
            <a:r>
              <a:rPr spc="-25"/>
              <a:t> </a:t>
            </a:r>
            <a:r>
              <a:rPr spc="-10"/>
              <a:t>users </a:t>
            </a:r>
            <a:r>
              <a:t>use</a:t>
            </a:r>
            <a:r>
              <a:rPr spc="-15"/>
              <a:t> </a:t>
            </a:r>
            <a:r>
              <a:t>the</a:t>
            </a:r>
            <a:r>
              <a:rPr spc="-15"/>
              <a:t> </a:t>
            </a:r>
            <a:r>
              <a:rPr spc="-10"/>
              <a:t>system</a:t>
            </a:r>
          </a:p>
          <a:p>
            <a:pPr marL="416559" indent="-403860">
              <a:spcBef>
                <a:spcPts val="4300"/>
              </a:spcBef>
              <a:buSzPct val="100000"/>
              <a:buAutoNum type="arabicParenR" startAt="1"/>
              <a:tabLst>
                <a:tab pos="406400" algn="l"/>
              </a:tabLst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シーンの移り変わりを大まかに書く</a:t>
            </a:r>
          </a:p>
          <a:p>
            <a:pPr indent="355600"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Write</a:t>
            </a:r>
            <a:r>
              <a:rPr spc="-10"/>
              <a:t> </a:t>
            </a:r>
            <a:r>
              <a:t>scenes</a:t>
            </a:r>
            <a:r>
              <a:rPr spc="-20"/>
              <a:t> </a:t>
            </a:r>
            <a:r>
              <a:t>and</a:t>
            </a:r>
            <a:r>
              <a:rPr spc="-10"/>
              <a:t> </a:t>
            </a:r>
            <a:r>
              <a:t>their</a:t>
            </a:r>
            <a:r>
              <a:rPr spc="-10"/>
              <a:t> transitions</a:t>
            </a:r>
          </a:p>
          <a:p>
            <a:pPr marL="355600" marR="337820" indent="-342900">
              <a:spcBef>
                <a:spcPts val="600"/>
              </a:spcBef>
              <a:buSzPct val="100000"/>
              <a:buAutoNum type="arabicParenR" startAt="2"/>
              <a:tabLst>
                <a:tab pos="355600" algn="l"/>
                <a:tab pos="406400" algn="l"/>
              </a:tabLst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	各シーンの詳細を（</a:t>
            </a:r>
            <a:r>
              <a:rPr spc="-15"/>
              <a:t>できれば絵で）</a:t>
            </a:r>
            <a:r>
              <a:rPr spc="-20"/>
              <a:t>表現する</a:t>
            </a:r>
            <a:r>
              <a:rPr spc="-50"/>
              <a:t> </a:t>
            </a:r>
            <a:r>
              <a:t>Express</a:t>
            </a:r>
            <a:r>
              <a:rPr spc="-30"/>
              <a:t> </a:t>
            </a:r>
            <a:r>
              <a:t>the</a:t>
            </a:r>
            <a:r>
              <a:rPr spc="-40"/>
              <a:t> </a:t>
            </a:r>
            <a:r>
              <a:t>details</a:t>
            </a:r>
            <a:r>
              <a:rPr spc="-45"/>
              <a:t> </a:t>
            </a:r>
            <a:r>
              <a:t>of</a:t>
            </a:r>
            <a:r>
              <a:rPr spc="-35"/>
              <a:t> </a:t>
            </a:r>
            <a:r>
              <a:t>each</a:t>
            </a:r>
            <a:r>
              <a:rPr spc="-60"/>
              <a:t> </a:t>
            </a:r>
            <a:r>
              <a:t>scene</a:t>
            </a:r>
            <a:r>
              <a:rPr spc="-20"/>
              <a:t> (</a:t>
            </a:r>
            <a:r>
              <a:t>preferably</a:t>
            </a:r>
            <a:r>
              <a:rPr spc="-55"/>
              <a:t> </a:t>
            </a:r>
            <a:r>
              <a:rPr spc="-25"/>
              <a:t>in </a:t>
            </a:r>
            <a:r>
              <a:rPr spc="-10"/>
              <a:t>pictures)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object 2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</p:spPr>
        <p:txBody>
          <a:bodyPr/>
          <a:lstStyle/>
          <a:p>
            <a:pPr indent="299084">
              <a:spcBef>
                <a:spcPts val="100"/>
              </a:spcBef>
              <a:defRPr spc="-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ストーリーボードなどで表現する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例</a:t>
            </a:r>
            <a:r>
              <a:t>)</a:t>
            </a:r>
          </a:p>
        </p:txBody>
      </p:sp>
      <p:pic>
        <p:nvPicPr>
          <p:cNvPr id="13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5478" y="1489953"/>
            <a:ext cx="6044753" cy="4302617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object 4"/>
          <p:cNvSpPr txBox="1"/>
          <p:nvPr/>
        </p:nvSpPr>
        <p:spPr>
          <a:xfrm>
            <a:off x="3917441" y="6298226"/>
            <a:ext cx="4316096" cy="513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lnSpc>
                <a:spcPts val="2000"/>
              </a:lnSpc>
              <a:defRPr spc="-10" u="sng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>
                <a:hlinkClick r:id="rId3" invalidUrl="" action="" tgtFrame="" tooltip="" history="1" highlightClick="0" endSnd="0"/>
              </a:rPr>
              <a:t>https://docs.microsoft.com/en-us/previous-</a:t>
            </a:r>
          </a:p>
          <a:p>
            <a:pPr indent="12700">
              <a:defRPr spc="-10" u="sng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>
                <a:hlinkClick r:id="rId3" invalidUrl="" action="" tgtFrame="" tooltip="" history="1" highlightClick="0" endSnd="0"/>
              </a:rPr>
              <a:t>versions/msdn10/ff800706(v=msdn.10)</a:t>
            </a:r>
          </a:p>
        </p:txBody>
      </p:sp>
      <p:sp>
        <p:nvSpPr>
          <p:cNvPr id="133" name="object 5"/>
          <p:cNvSpPr txBox="1"/>
          <p:nvPr>
            <p:ph type="sldNum" sz="quarter" idx="4294967295"/>
          </p:nvPr>
        </p:nvSpPr>
        <p:spPr>
          <a:xfrm>
            <a:off x="8560054" y="6500228"/>
            <a:ext cx="269622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object 2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</p:spPr>
        <p:txBody>
          <a:bodyPr/>
          <a:lstStyle/>
          <a:p>
            <a:pPr indent="299084">
              <a:spcBef>
                <a:spcPts val="100"/>
              </a:spcBef>
              <a:defRPr spc="-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ストーリーボードなどで表現する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例</a:t>
            </a:r>
            <a:r>
              <a:t>)</a:t>
            </a:r>
          </a:p>
        </p:txBody>
      </p:sp>
      <p:pic>
        <p:nvPicPr>
          <p:cNvPr id="13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7223" y="1480475"/>
            <a:ext cx="6558520" cy="4573669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object 4"/>
          <p:cNvSpPr txBox="1"/>
          <p:nvPr/>
        </p:nvSpPr>
        <p:spPr>
          <a:xfrm>
            <a:off x="3917441" y="6298226"/>
            <a:ext cx="4316096" cy="513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lnSpc>
                <a:spcPts val="2000"/>
              </a:lnSpc>
              <a:defRPr spc="-10" u="sng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>
                <a:hlinkClick r:id="rId3" invalidUrl="" action="" tgtFrame="" tooltip="" history="1" highlightClick="0" endSnd="0"/>
              </a:rPr>
              <a:t>https://docs.microsoft.com/en-us/previous-</a:t>
            </a:r>
          </a:p>
          <a:p>
            <a:pPr indent="12700">
              <a:defRPr spc="-10" u="sng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>
                <a:hlinkClick r:id="rId3" invalidUrl="" action="" tgtFrame="" tooltip="" history="1" highlightClick="0" endSnd="0"/>
              </a:rPr>
              <a:t>versions/msdn10/ff800706(v=msdn.10)</a:t>
            </a:r>
          </a:p>
        </p:txBody>
      </p:sp>
      <p:sp>
        <p:nvSpPr>
          <p:cNvPr id="138" name="object 5"/>
          <p:cNvSpPr txBox="1"/>
          <p:nvPr>
            <p:ph type="sldNum" sz="quarter" idx="4294967295"/>
          </p:nvPr>
        </p:nvSpPr>
        <p:spPr>
          <a:xfrm>
            <a:off x="8560054" y="6500228"/>
            <a:ext cx="376048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2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</p:spPr>
        <p:txBody>
          <a:bodyPr/>
          <a:lstStyle/>
          <a:p>
            <a:pPr indent="299084">
              <a:spcBef>
                <a:spcPts val="100"/>
              </a:spcBef>
              <a:defRPr spc="-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設計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実現方法を考える </a:t>
            </a:r>
            <a:r>
              <a:t>/ Design</a:t>
            </a:r>
          </a:p>
        </p:txBody>
      </p:sp>
      <p:sp>
        <p:nvSpPr>
          <p:cNvPr id="141" name="object 4"/>
          <p:cNvSpPr txBox="1"/>
          <p:nvPr>
            <p:ph type="sldNum" sz="quarter" idx="4294967295"/>
          </p:nvPr>
        </p:nvSpPr>
        <p:spPr>
          <a:xfrm>
            <a:off x="8560054" y="6500228"/>
            <a:ext cx="270003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38100">
              <a:defRPr spc="-25"/>
            </a:lvl1pPr>
          </a:lstStyle>
          <a:p>
            <a:pPr/>
            <a:fld id="{86CB4B4D-7CA3-9044-876B-883B54F8677D}" type="slidenum"/>
          </a:p>
        </p:txBody>
      </p:sp>
      <p:sp>
        <p:nvSpPr>
          <p:cNvPr id="142" name="object 3"/>
          <p:cNvSpPr txBox="1"/>
          <p:nvPr/>
        </p:nvSpPr>
        <p:spPr>
          <a:xfrm>
            <a:off x="535939" y="1275879"/>
            <a:ext cx="6749417" cy="515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700"/>
              </a:spcBef>
              <a:defRPr spc="-2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なにを使用すれば実現できるかを検討する</a:t>
            </a:r>
          </a:p>
          <a:p>
            <a:pPr indent="12700">
              <a:spcBef>
                <a:spcPts val="600"/>
              </a:spcBef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Consider</a:t>
            </a:r>
            <a:r>
              <a:rPr spc="-30"/>
              <a:t> </a:t>
            </a:r>
            <a:r>
              <a:t>what</a:t>
            </a:r>
            <a:r>
              <a:rPr spc="-55"/>
              <a:t> </a:t>
            </a:r>
            <a:r>
              <a:t>could</a:t>
            </a:r>
            <a:r>
              <a:rPr spc="-35"/>
              <a:t> </a:t>
            </a:r>
            <a:r>
              <a:t>be</a:t>
            </a:r>
            <a:r>
              <a:rPr spc="-30"/>
              <a:t> </a:t>
            </a:r>
            <a:r>
              <a:t>used</a:t>
            </a:r>
            <a:r>
              <a:rPr spc="-55"/>
              <a:t> </a:t>
            </a:r>
            <a:r>
              <a:t>to</a:t>
            </a:r>
            <a:r>
              <a:rPr spc="-25"/>
              <a:t> </a:t>
            </a:r>
            <a:r>
              <a:t>achieve</a:t>
            </a:r>
            <a:r>
              <a:rPr spc="-40"/>
              <a:t> </a:t>
            </a:r>
            <a:r>
              <a:rPr spc="-20"/>
              <a:t>this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LED表示 / </a:t>
            </a:r>
            <a:r>
              <a:rPr spc="-25"/>
              <a:t>LED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ボタン入力 / </a:t>
            </a:r>
            <a:r>
              <a:rPr spc="-10"/>
              <a:t>Button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タイマ / Timer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5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…</a:t>
            </a:r>
          </a:p>
          <a:p>
            <a:pPr>
              <a:spcBef>
                <a:spcPts val="3200"/>
              </a:spcBef>
              <a:buSzPct val="100000"/>
              <a:buChar char=""/>
              <a:defRPr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</a:p>
          <a:p>
            <a:pPr indent="12700">
              <a:defRPr spc="-15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(オプショナル)</a:t>
            </a:r>
          </a:p>
          <a:p>
            <a:pPr marL="469900" indent="-457200">
              <a:spcBef>
                <a:spcPts val="600"/>
              </a:spcBef>
              <a:buSzPct val="100000"/>
              <a:buChar char=""/>
              <a:tabLst>
                <a:tab pos="469900" algn="l"/>
              </a:tabLst>
              <a:defRPr spc="-10" sz="26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ハードウェアの追加 / </a:t>
            </a:r>
            <a:r>
              <a:rPr spc="0"/>
              <a:t>Add</a:t>
            </a:r>
            <a:r>
              <a:rPr spc="-25"/>
              <a:t> </a:t>
            </a:r>
            <a:r>
              <a:t>hardware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bject 2"/>
          <p:cNvSpPr txBox="1"/>
          <p:nvPr>
            <p:ph type="title"/>
          </p:nvPr>
        </p:nvSpPr>
        <p:spPr>
          <a:xfrm>
            <a:off x="249274" y="281761"/>
            <a:ext cx="8645450" cy="901586"/>
          </a:xfrm>
          <a:prstGeom prst="rect">
            <a:avLst/>
          </a:prstGeom>
        </p:spPr>
        <p:txBody>
          <a:bodyPr/>
          <a:lstStyle/>
          <a:p>
            <a:pPr indent="299084">
              <a:spcBef>
                <a:spcPts val="100"/>
              </a:spcBef>
              <a:defRPr spc="-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成果発表会 </a:t>
            </a:r>
            <a:r>
              <a:t>/ Presentation</a:t>
            </a:r>
          </a:p>
        </p:txBody>
      </p:sp>
      <p:sp>
        <p:nvSpPr>
          <p:cNvPr id="145" name="object 4"/>
          <p:cNvSpPr txBox="1"/>
          <p:nvPr>
            <p:ph type="sldNum" sz="quarter" idx="4294967295"/>
          </p:nvPr>
        </p:nvSpPr>
        <p:spPr>
          <a:xfrm>
            <a:off x="8560054" y="6500228"/>
            <a:ext cx="270003" cy="207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38100">
              <a:defRPr spc="-25"/>
            </a:lvl1pPr>
          </a:lstStyle>
          <a:p>
            <a:pPr/>
            <a:fld id="{86CB4B4D-7CA3-9044-876B-883B54F8677D}" type="slidenum"/>
          </a:p>
        </p:txBody>
      </p:sp>
      <p:sp>
        <p:nvSpPr>
          <p:cNvPr id="146" name="object 3"/>
          <p:cNvSpPr txBox="1"/>
          <p:nvPr>
            <p:ph type="body" sz="half" idx="1"/>
          </p:nvPr>
        </p:nvSpPr>
        <p:spPr>
          <a:xfrm>
            <a:off x="535940" y="1183804"/>
            <a:ext cx="6048376" cy="3056891"/>
          </a:xfrm>
          <a:prstGeom prst="rect">
            <a:avLst/>
          </a:prstGeom>
        </p:spPr>
        <p:txBody>
          <a:bodyPr/>
          <a:lstStyle/>
          <a:p>
            <a:pPr marL="394715" indent="-384047" defTabSz="768095">
              <a:spcBef>
                <a:spcPts val="500"/>
              </a:spcBef>
              <a:buSzPct val="100000"/>
              <a:buFont typeface="Arial"/>
              <a:buChar char="•"/>
              <a:tabLst>
                <a:tab pos="393700" algn="l"/>
              </a:tabLst>
              <a:defRPr sz="2184"/>
            </a:pPr>
            <a:r>
              <a:t>5</a:t>
            </a:r>
            <a:r>
              <a:rPr spc="-84"/>
              <a:t> </a:t>
            </a:r>
            <a:r>
              <a:t>min</a:t>
            </a:r>
            <a:r>
              <a:rPr spc="-84"/>
              <a:t> </a:t>
            </a:r>
            <a:r>
              <a:t>/</a:t>
            </a:r>
            <a:r>
              <a:rPr spc="-84"/>
              <a:t> </a:t>
            </a:r>
            <a:r>
              <a:t>1</a:t>
            </a:r>
            <a:r>
              <a:rPr spc="-84"/>
              <a:t> team</a:t>
            </a:r>
            <a:endParaRPr spc="-84"/>
          </a:p>
          <a:p>
            <a:pPr marL="394715" indent="-384047" defTabSz="768095">
              <a:spcBef>
                <a:spcPts val="500"/>
              </a:spcBef>
              <a:buSzPct val="100000"/>
              <a:buFont typeface="Arial"/>
              <a:buChar char="•"/>
              <a:tabLst>
                <a:tab pos="393700" algn="l"/>
              </a:tabLst>
              <a:defRPr spc="-84" sz="2184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内容 </a:t>
            </a:r>
            <a:r>
              <a:t>/ </a:t>
            </a:r>
            <a:r>
              <a:rPr spc="0"/>
              <a:t>Excepted</a:t>
            </a:r>
            <a:r>
              <a:t> contents</a:t>
            </a:r>
          </a:p>
          <a:p>
            <a:pPr lvl="1" marL="731291" indent="-384047" defTabSz="768095">
              <a:spcBef>
                <a:spcPts val="400"/>
              </a:spcBef>
              <a:buSzPct val="100000"/>
              <a:buFont typeface="Arial"/>
              <a:buChar char="•"/>
              <a:tabLst>
                <a:tab pos="723900" algn="l"/>
              </a:tabLst>
              <a:defRPr spc="-84" sz="1679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作ったものの概要 </a:t>
            </a:r>
            <a:r>
              <a:t>/ </a:t>
            </a:r>
            <a:r>
              <a:rPr spc="0"/>
              <a:t>Overview</a:t>
            </a:r>
            <a:r>
              <a:t> </a:t>
            </a:r>
            <a:r>
              <a:rPr spc="0"/>
              <a:t>of</a:t>
            </a:r>
            <a:r>
              <a:t> </a:t>
            </a:r>
            <a:r>
              <a:rPr spc="0"/>
              <a:t>your </a:t>
            </a:r>
            <a:r>
              <a:t>system</a:t>
            </a:r>
          </a:p>
          <a:p>
            <a:pPr lvl="1" marL="731291" indent="-384047" defTabSz="768095">
              <a:spcBef>
                <a:spcPts val="300"/>
              </a:spcBef>
              <a:buSzPct val="100000"/>
              <a:buFont typeface="Arial"/>
              <a:buChar char="•"/>
              <a:tabLst>
                <a:tab pos="723900" algn="l"/>
              </a:tabLst>
              <a:defRPr spc="-84" sz="1679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デモムービー </a:t>
            </a:r>
            <a:r>
              <a:t>/ </a:t>
            </a:r>
            <a:r>
              <a:rPr spc="0"/>
              <a:t>Demo</a:t>
            </a:r>
            <a:r>
              <a:t> movie</a:t>
            </a:r>
          </a:p>
          <a:p>
            <a:pPr lvl="1" marL="731291" indent="-384047" defTabSz="768095">
              <a:spcBef>
                <a:spcPts val="300"/>
              </a:spcBef>
              <a:buSzPct val="100000"/>
              <a:buFont typeface="Arial"/>
              <a:buChar char="•"/>
              <a:tabLst>
                <a:tab pos="723900" algn="l"/>
              </a:tabLst>
              <a:defRPr spc="-84" sz="1679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要求分析、設計の過程</a:t>
            </a:r>
          </a:p>
          <a:p>
            <a:pPr indent="731291" defTabSz="768095">
              <a:defRPr sz="1679"/>
            </a:pPr>
            <a:r>
              <a:t>Process</a:t>
            </a:r>
            <a:r>
              <a:rPr spc="-84"/>
              <a:t> </a:t>
            </a:r>
            <a:r>
              <a:t>of</a:t>
            </a:r>
            <a:r>
              <a:rPr spc="-84"/>
              <a:t> </a:t>
            </a:r>
            <a:r>
              <a:t>requirement</a:t>
            </a:r>
            <a:r>
              <a:rPr spc="-84"/>
              <a:t> </a:t>
            </a:r>
            <a:r>
              <a:t>analysis</a:t>
            </a:r>
            <a:r>
              <a:rPr spc="-84"/>
              <a:t> </a:t>
            </a:r>
            <a:r>
              <a:t>and</a:t>
            </a:r>
            <a:r>
              <a:rPr spc="-84"/>
              <a:t> design</a:t>
            </a:r>
          </a:p>
          <a:p>
            <a:pPr lvl="1" marL="731291" indent="-384047" defTabSz="768095">
              <a:spcBef>
                <a:spcPts val="300"/>
              </a:spcBef>
              <a:buSzPct val="100000"/>
              <a:buFont typeface="Arial"/>
              <a:buChar char="•"/>
              <a:tabLst>
                <a:tab pos="723900" algn="l"/>
              </a:tabLst>
              <a:defRPr spc="-84" sz="1679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工夫した点</a:t>
            </a:r>
          </a:p>
          <a:p>
            <a:pPr indent="731291" defTabSz="768095">
              <a:defRPr sz="1679"/>
            </a:pPr>
            <a:r>
              <a:t>Point</a:t>
            </a:r>
            <a:r>
              <a:rPr spc="-84"/>
              <a:t> </a:t>
            </a:r>
            <a:r>
              <a:t>you</a:t>
            </a:r>
            <a:r>
              <a:rPr spc="-84"/>
              <a:t> </a:t>
            </a:r>
            <a:r>
              <a:t>thought</a:t>
            </a:r>
            <a:r>
              <a:rPr spc="-84"/>
              <a:t> </a:t>
            </a:r>
            <a:r>
              <a:t>and</a:t>
            </a:r>
            <a:r>
              <a:rPr spc="-84"/>
              <a:t> </a:t>
            </a:r>
            <a:r>
              <a:t>work</a:t>
            </a:r>
            <a:r>
              <a:rPr spc="-84"/>
              <a:t> out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