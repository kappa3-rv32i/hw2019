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1854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895600"/>
            <a:ext cx="9144000" cy="3962400"/>
          </a:xfrm>
          <a:custGeom>
            <a:avLst/>
            <a:gdLst/>
            <a:ahLst/>
            <a:cxnLst/>
            <a:rect l="l" t="t" r="r" b="b"/>
            <a:pathLst>
              <a:path w="9144000" h="3962400">
                <a:moveTo>
                  <a:pt x="9144000" y="0"/>
                </a:moveTo>
                <a:lnTo>
                  <a:pt x="0" y="0"/>
                </a:lnTo>
                <a:lnTo>
                  <a:pt x="0" y="3962400"/>
                </a:lnTo>
                <a:lnTo>
                  <a:pt x="9144000" y="3962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2895600"/>
            <a:ext cx="4191000" cy="108585"/>
          </a:xfrm>
          <a:custGeom>
            <a:avLst/>
            <a:gdLst/>
            <a:ahLst/>
            <a:cxnLst/>
            <a:rect l="l" t="t" r="r" b="b"/>
            <a:pathLst>
              <a:path w="4191000" h="108585">
                <a:moveTo>
                  <a:pt x="4191000" y="0"/>
                </a:moveTo>
                <a:lnTo>
                  <a:pt x="0" y="0"/>
                </a:lnTo>
                <a:lnTo>
                  <a:pt x="0" y="108203"/>
                </a:lnTo>
                <a:lnTo>
                  <a:pt x="4191000" y="108203"/>
                </a:lnTo>
                <a:lnTo>
                  <a:pt x="4191000" y="0"/>
                </a:lnTo>
                <a:close/>
              </a:path>
            </a:pathLst>
          </a:custGeom>
          <a:solidFill>
            <a:srgbClr val="6D00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8252" y="5990844"/>
            <a:ext cx="2164079" cy="533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1165301"/>
            <a:ext cx="58527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33600" y="6400799"/>
            <a:ext cx="7010400" cy="457200"/>
          </a:xfrm>
          <a:custGeom>
            <a:avLst/>
            <a:gdLst/>
            <a:ahLst/>
            <a:cxnLst/>
            <a:rect l="l" t="t" r="r" b="b"/>
            <a:pathLst>
              <a:path w="7010400" h="457200">
                <a:moveTo>
                  <a:pt x="7010400" y="0"/>
                </a:moveTo>
                <a:lnTo>
                  <a:pt x="0" y="0"/>
                </a:lnTo>
                <a:lnTo>
                  <a:pt x="0" y="457199"/>
                </a:lnTo>
                <a:lnTo>
                  <a:pt x="7010400" y="457199"/>
                </a:lnTo>
                <a:lnTo>
                  <a:pt x="701040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00799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2133600" y="0"/>
                </a:moveTo>
                <a:lnTo>
                  <a:pt x="0" y="0"/>
                </a:lnTo>
                <a:lnTo>
                  <a:pt x="0" y="457199"/>
                </a:lnTo>
                <a:lnTo>
                  <a:pt x="2133600" y="457199"/>
                </a:lnTo>
                <a:lnTo>
                  <a:pt x="2133600" y="0"/>
                </a:lnTo>
                <a:close/>
              </a:path>
            </a:pathLst>
          </a:custGeom>
          <a:solidFill>
            <a:srgbClr val="6D00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6476998"/>
            <a:ext cx="1219200" cy="3108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275" y="281762"/>
            <a:ext cx="8645448" cy="9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83805"/>
            <a:ext cx="6048375" cy="3056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0054" y="6500229"/>
            <a:ext cx="314959" cy="24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Yu Gothic"/>
                <a:cs typeface="Yu Gothic"/>
              </a:defRPr>
            </a:lvl1pPr>
          </a:lstStyle>
          <a:p>
            <a:pPr marL="150495">
              <a:lnSpc>
                <a:spcPts val="18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revious-versions/msdn10/ff800706(v%3Dmsdn.10)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revious-versions/msdn10/ff800706(v%3Dmsdn.10)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6D002A"/>
                </a:solidFill>
              </a:rPr>
              <a:t>基礎</a:t>
            </a:r>
            <a:r>
              <a:rPr sz="4000" dirty="0">
                <a:solidFill>
                  <a:srgbClr val="6D002A"/>
                </a:solidFill>
              </a:rPr>
              <a:t>PBL</a:t>
            </a:r>
            <a:r>
              <a:rPr sz="4000" spc="-70" dirty="0">
                <a:solidFill>
                  <a:srgbClr val="6D002A"/>
                </a:solidFill>
              </a:rPr>
              <a:t> </a:t>
            </a:r>
            <a:r>
              <a:rPr sz="4000" dirty="0">
                <a:solidFill>
                  <a:srgbClr val="6D002A"/>
                </a:solidFill>
              </a:rPr>
              <a:t>II</a:t>
            </a:r>
            <a:r>
              <a:rPr sz="4000" spc="-50" dirty="0">
                <a:solidFill>
                  <a:srgbClr val="6D002A"/>
                </a:solidFill>
              </a:rPr>
              <a:t> / </a:t>
            </a:r>
            <a:r>
              <a:rPr sz="4000" dirty="0">
                <a:solidFill>
                  <a:srgbClr val="6D002A"/>
                </a:solidFill>
              </a:rPr>
              <a:t>Basic</a:t>
            </a:r>
            <a:r>
              <a:rPr sz="4000" spc="-45" dirty="0">
                <a:solidFill>
                  <a:srgbClr val="6D002A"/>
                </a:solidFill>
              </a:rPr>
              <a:t> </a:t>
            </a:r>
            <a:r>
              <a:rPr sz="4000" dirty="0">
                <a:solidFill>
                  <a:srgbClr val="6D002A"/>
                </a:solidFill>
              </a:rPr>
              <a:t>PBL</a:t>
            </a:r>
            <a:r>
              <a:rPr sz="4000" spc="-65" dirty="0">
                <a:solidFill>
                  <a:srgbClr val="6D002A"/>
                </a:solidFill>
              </a:rPr>
              <a:t> </a:t>
            </a:r>
            <a:r>
              <a:rPr sz="4000" spc="-25" dirty="0">
                <a:solidFill>
                  <a:srgbClr val="6D002A"/>
                </a:solidFill>
              </a:rPr>
              <a:t>II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028266"/>
            <a:ext cx="30022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5" dirty="0">
                <a:solidFill>
                  <a:srgbClr val="6D002A"/>
                </a:solidFill>
                <a:latin typeface="Yu Gothic"/>
                <a:cs typeface="Yu Gothic"/>
              </a:rPr>
              <a:t>オリエンテーション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dirty="0"/>
              <a:t>基礎PBL</a:t>
            </a:r>
            <a:r>
              <a:rPr spc="-35" dirty="0"/>
              <a:t> </a:t>
            </a:r>
            <a:r>
              <a:rPr dirty="0"/>
              <a:t>II</a:t>
            </a:r>
            <a:r>
              <a:rPr spc="-10" dirty="0"/>
              <a:t> / </a:t>
            </a:r>
            <a:r>
              <a:rPr dirty="0"/>
              <a:t>Basic</a:t>
            </a:r>
            <a:r>
              <a:rPr spc="-10" dirty="0"/>
              <a:t> </a:t>
            </a:r>
            <a:r>
              <a:rPr dirty="0"/>
              <a:t>PBL</a:t>
            </a:r>
            <a:r>
              <a:rPr spc="-10" dirty="0"/>
              <a:t> </a:t>
            </a:r>
            <a:r>
              <a:rPr spc="-25" dirty="0"/>
              <a:t>II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8506"/>
            <a:ext cx="8062595" cy="34410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5" dirty="0">
                <a:latin typeface="Yu Gothic"/>
                <a:cs typeface="Yu Gothic"/>
              </a:rPr>
              <a:t>目的 / </a:t>
            </a:r>
            <a:r>
              <a:rPr sz="2000" spc="-10" dirty="0">
                <a:latin typeface="Yu Gothic"/>
                <a:cs typeface="Yu Gothic"/>
              </a:rPr>
              <a:t>Objectives</a:t>
            </a:r>
            <a:endParaRPr sz="2000">
              <a:latin typeface="Yu Gothic"/>
              <a:cs typeface="Yu Gothic"/>
            </a:endParaRPr>
          </a:p>
          <a:p>
            <a:pPr marL="469900" marR="212090" indent="-457834">
              <a:lnSpc>
                <a:spcPct val="100000"/>
              </a:lnSpc>
              <a:spcBef>
                <a:spcPts val="484"/>
              </a:spcBef>
              <a:buFont typeface="Wingdings"/>
              <a:buChar char=""/>
              <a:tabLst>
                <a:tab pos="469900" algn="l"/>
              </a:tabLst>
            </a:pPr>
            <a:r>
              <a:rPr sz="2000" spc="-20" dirty="0">
                <a:latin typeface="Yu Gothic"/>
                <a:cs typeface="Yu Gothic"/>
              </a:rPr>
              <a:t>論理設計、コンピュータアーキテクチャ、ソフトウェアの側面か</a:t>
            </a:r>
            <a:r>
              <a:rPr sz="2000" spc="-10" dirty="0">
                <a:latin typeface="Yu Gothic"/>
                <a:cs typeface="Yu Gothic"/>
              </a:rPr>
              <a:t>らコンピュータシステムを理解</a:t>
            </a:r>
            <a:endParaRPr sz="20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Font typeface="Wingdings"/>
              <a:buChar char=""/>
              <a:tabLst>
                <a:tab pos="469900" algn="l"/>
              </a:tabLst>
            </a:pPr>
            <a:r>
              <a:rPr sz="2000" dirty="0">
                <a:latin typeface="Yu Gothic"/>
                <a:cs typeface="Yu Gothic"/>
              </a:rPr>
              <a:t>Understanding</a:t>
            </a:r>
            <a:r>
              <a:rPr sz="2000" spc="-7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computer</a:t>
            </a:r>
            <a:r>
              <a:rPr sz="2000" spc="-5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systems</a:t>
            </a:r>
            <a:r>
              <a:rPr sz="2000" spc="-6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from</a:t>
            </a:r>
            <a:r>
              <a:rPr sz="2000" spc="-4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logic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circuit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design,</a:t>
            </a:r>
            <a:endParaRPr sz="2000">
              <a:latin typeface="Yu Gothic"/>
              <a:cs typeface="Yu Gothic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Yu Gothic"/>
                <a:cs typeface="Yu Gothic"/>
              </a:rPr>
              <a:t>computer</a:t>
            </a:r>
            <a:r>
              <a:rPr sz="2000" spc="-5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architecture,</a:t>
            </a:r>
            <a:r>
              <a:rPr sz="2000" spc="-5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and</a:t>
            </a:r>
            <a:r>
              <a:rPr sz="2000" spc="-3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software</a:t>
            </a:r>
            <a:r>
              <a:rPr sz="2000" spc="-50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perspective.</a:t>
            </a:r>
            <a:endParaRPr sz="2000">
              <a:latin typeface="Yu Gothic"/>
              <a:cs typeface="Yu Gothic"/>
            </a:endParaRPr>
          </a:p>
          <a:p>
            <a:pPr marL="469900" marR="114935" indent="-457834">
              <a:lnSpc>
                <a:spcPct val="100000"/>
              </a:lnSpc>
              <a:spcBef>
                <a:spcPts val="3360"/>
              </a:spcBef>
              <a:buFont typeface="Wingdings"/>
              <a:buChar char=""/>
              <a:tabLst>
                <a:tab pos="469900" algn="l"/>
              </a:tabLst>
            </a:pPr>
            <a:r>
              <a:rPr sz="2000" spc="-20" dirty="0">
                <a:latin typeface="Yu Gothic"/>
                <a:cs typeface="Yu Gothic"/>
              </a:rPr>
              <a:t>(チーム開発を通して分散ロボット演習で学んだことの応用力をつける)</a:t>
            </a:r>
            <a:endParaRPr sz="2000">
              <a:latin typeface="Yu Gothic"/>
              <a:cs typeface="Yu Gothic"/>
            </a:endParaRPr>
          </a:p>
          <a:p>
            <a:pPr marL="469900" marR="5080" indent="-457834">
              <a:lnSpc>
                <a:spcPct val="100000"/>
              </a:lnSpc>
              <a:spcBef>
                <a:spcPts val="484"/>
              </a:spcBef>
              <a:buFont typeface="Wingdings"/>
              <a:buChar char=""/>
              <a:tabLst>
                <a:tab pos="469900" algn="l"/>
              </a:tabLst>
            </a:pPr>
            <a:r>
              <a:rPr sz="2000" dirty="0">
                <a:latin typeface="Yu Gothic"/>
                <a:cs typeface="Yu Gothic"/>
              </a:rPr>
              <a:t>(Applying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the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knowledge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and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skills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you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learned</a:t>
            </a:r>
            <a:r>
              <a:rPr sz="2000" spc="-3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in</a:t>
            </a:r>
            <a:r>
              <a:rPr sz="2000" spc="-2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the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distributed </a:t>
            </a:r>
            <a:r>
              <a:rPr sz="2000" dirty="0">
                <a:latin typeface="Yu Gothic"/>
                <a:cs typeface="Yu Gothic"/>
              </a:rPr>
              <a:t>robotics</a:t>
            </a:r>
            <a:r>
              <a:rPr sz="2000" spc="-40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excursive</a:t>
            </a:r>
            <a:r>
              <a:rPr sz="2000" spc="-6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through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team</a:t>
            </a:r>
            <a:r>
              <a:rPr sz="2000" spc="-40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development.)</a:t>
            </a:r>
            <a:endParaRPr sz="20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プロジェクト / </a:t>
            </a:r>
            <a:r>
              <a:rPr spc="-10" dirty="0"/>
              <a:t>Project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3805"/>
            <a:ext cx="7946390" cy="51485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spc="-20" dirty="0">
                <a:latin typeface="Yu Gothic"/>
                <a:cs typeface="Yu Gothic"/>
              </a:rPr>
              <a:t>開発対象 / </a:t>
            </a:r>
            <a:r>
              <a:rPr sz="2600" dirty="0">
                <a:latin typeface="Yu Gothic"/>
                <a:cs typeface="Yu Gothic"/>
              </a:rPr>
              <a:t>Target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system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dirty="0">
                <a:latin typeface="Yu Gothic"/>
                <a:cs typeface="Yu Gothic"/>
              </a:rPr>
              <a:t>三菱マイコン社製</a:t>
            </a:r>
            <a:r>
              <a:rPr sz="2600" spc="-10" dirty="0">
                <a:latin typeface="Yu Gothic"/>
                <a:cs typeface="Yu Gothic"/>
              </a:rPr>
              <a:t>MU500-</a:t>
            </a:r>
            <a:r>
              <a:rPr sz="2600" spc="-25" dirty="0">
                <a:latin typeface="Yu Gothic"/>
                <a:cs typeface="Yu Gothic"/>
              </a:rPr>
              <a:t>RX</a:t>
            </a:r>
            <a:endParaRPr sz="2600">
              <a:latin typeface="Yu Gothic"/>
              <a:cs typeface="Yu Gothic"/>
            </a:endParaRPr>
          </a:p>
          <a:p>
            <a:pPr marL="870585" lvl="1" indent="-457200">
              <a:lnSpc>
                <a:spcPct val="100000"/>
              </a:lnSpc>
              <a:spcBef>
                <a:spcPts val="525"/>
              </a:spcBef>
              <a:buFont typeface="Wingdings"/>
              <a:buChar char=""/>
              <a:tabLst>
                <a:tab pos="870585" algn="l"/>
              </a:tabLst>
            </a:pPr>
            <a:r>
              <a:rPr sz="2000" dirty="0">
                <a:latin typeface="Yu Gothic"/>
                <a:cs typeface="Yu Gothic"/>
              </a:rPr>
              <a:t>ALTERA</a:t>
            </a:r>
            <a:r>
              <a:rPr sz="2000" spc="-2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Cyclone</a:t>
            </a:r>
            <a:r>
              <a:rPr sz="2000" spc="-10" dirty="0">
                <a:latin typeface="Yu Gothic"/>
                <a:cs typeface="Yu Gothic"/>
              </a:rPr>
              <a:t> </a:t>
            </a:r>
            <a:r>
              <a:rPr sz="2000" spc="-25" dirty="0">
                <a:latin typeface="Yu Gothic"/>
                <a:cs typeface="Yu Gothic"/>
              </a:rPr>
              <a:t>IV</a:t>
            </a:r>
            <a:endParaRPr sz="20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dirty="0">
                <a:latin typeface="Yu Gothic"/>
                <a:cs typeface="Yu Gothic"/>
              </a:rPr>
              <a:t>KAPPA3</a:t>
            </a:r>
            <a:r>
              <a:rPr sz="2600" spc="-2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RV32I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Processor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370"/>
              </a:spcBef>
            </a:pPr>
            <a:r>
              <a:rPr sz="2600" spc="-15" dirty="0">
                <a:latin typeface="Yu Gothic"/>
                <a:cs typeface="Yu Gothic"/>
              </a:rPr>
              <a:t>開発 / </a:t>
            </a:r>
            <a:r>
              <a:rPr sz="2600" spc="-10" dirty="0">
                <a:latin typeface="Yu Gothic"/>
                <a:cs typeface="Yu Gothic"/>
              </a:rPr>
              <a:t>Development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0" dirty="0">
                <a:latin typeface="Yu Gothic"/>
                <a:cs typeface="Yu Gothic"/>
              </a:rPr>
              <a:t>チームで開発する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dirty="0">
                <a:latin typeface="Yu Gothic"/>
                <a:cs typeface="Yu Gothic"/>
              </a:rPr>
              <a:t>Team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development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437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20" dirty="0">
                <a:latin typeface="Yu Gothic"/>
                <a:cs typeface="Yu Gothic"/>
              </a:rPr>
              <a:t>チーム内で合意した要求に従って開発する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dirty="0">
                <a:latin typeface="Yu Gothic"/>
                <a:cs typeface="Yu Gothic"/>
              </a:rPr>
              <a:t>Develop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software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system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team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member</a:t>
            </a:r>
            <a:r>
              <a:rPr sz="2600" spc="-4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agreed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開発例 / </a:t>
            </a:r>
            <a:r>
              <a:rPr spc="-10" dirty="0"/>
              <a:t>Examples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3805"/>
            <a:ext cx="4725035" cy="43065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spc="-15" dirty="0">
                <a:latin typeface="Yu Gothic"/>
                <a:cs typeface="Yu Gothic"/>
              </a:rPr>
              <a:t>ゲーム / </a:t>
            </a:r>
            <a:r>
              <a:rPr sz="2600" spc="-20" dirty="0">
                <a:latin typeface="Yu Gothic"/>
                <a:cs typeface="Yu Gothic"/>
              </a:rPr>
              <a:t>Game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0" dirty="0">
                <a:latin typeface="Yu Gothic"/>
                <a:cs typeface="Yu Gothic"/>
              </a:rPr>
              <a:t>ブロック崩し / </a:t>
            </a:r>
            <a:r>
              <a:rPr sz="2600" dirty="0">
                <a:latin typeface="Yu Gothic"/>
                <a:cs typeface="Yu Gothic"/>
              </a:rPr>
              <a:t>Block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braker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5" dirty="0">
                <a:latin typeface="Yu Gothic"/>
                <a:cs typeface="Yu Gothic"/>
              </a:rPr>
              <a:t>人狼 / </a:t>
            </a:r>
            <a:r>
              <a:rPr sz="2600" spc="-10" dirty="0">
                <a:latin typeface="Yu Gothic"/>
                <a:cs typeface="Yu Gothic"/>
              </a:rPr>
              <a:t>Werewolf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5" dirty="0">
                <a:latin typeface="Yu Gothic"/>
                <a:cs typeface="Yu Gothic"/>
              </a:rPr>
              <a:t>倉庫番 / </a:t>
            </a:r>
            <a:r>
              <a:rPr sz="2600" spc="-10" dirty="0">
                <a:latin typeface="Yu Gothic"/>
                <a:cs typeface="Yu Gothic"/>
              </a:rPr>
              <a:t>Sokoban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50" dirty="0">
                <a:latin typeface="Yu Gothic"/>
                <a:cs typeface="Yu Gothic"/>
              </a:rPr>
              <a:t>…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370"/>
              </a:spcBef>
            </a:pPr>
            <a:r>
              <a:rPr sz="2600" spc="-10" dirty="0">
                <a:latin typeface="Yu Gothic"/>
                <a:cs typeface="Yu Gothic"/>
              </a:rPr>
              <a:t>アニメーション / Animation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5" dirty="0">
                <a:latin typeface="Yu Gothic"/>
                <a:cs typeface="Yu Gothic"/>
              </a:rPr>
              <a:t>花火 / </a:t>
            </a:r>
            <a:r>
              <a:rPr sz="2600" spc="-10" dirty="0">
                <a:latin typeface="Yu Gothic"/>
                <a:cs typeface="Yu Gothic"/>
              </a:rPr>
              <a:t>Fireworks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50" dirty="0">
                <a:latin typeface="Yu Gothic"/>
                <a:cs typeface="Yu Gothic"/>
              </a:rPr>
              <a:t>…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205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スケジュール / </a:t>
            </a:r>
            <a:r>
              <a:rPr spc="-10" dirty="0"/>
              <a:t>Schedule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6460" y="1406679"/>
            <a:ext cx="6889750" cy="39401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dirty="0">
                <a:latin typeface="Yu Gothic"/>
                <a:cs typeface="Yu Gothic"/>
              </a:rPr>
              <a:t>7/</a:t>
            </a:r>
            <a:r>
              <a:rPr lang="en-US" sz="2600" dirty="0">
                <a:latin typeface="Yu Gothic"/>
                <a:cs typeface="Yu Gothic"/>
              </a:rPr>
              <a:t>7</a:t>
            </a:r>
            <a:r>
              <a:rPr sz="2600" spc="-25" dirty="0">
                <a:latin typeface="Yu Gothic"/>
                <a:cs typeface="Yu Gothic"/>
              </a:rPr>
              <a:t> 計画、要求定義</a:t>
            </a:r>
            <a:endParaRPr sz="2600" dirty="0">
              <a:latin typeface="Yu Gothic"/>
              <a:cs typeface="Yu Gothic"/>
            </a:endParaRPr>
          </a:p>
          <a:p>
            <a:pPr marL="927100">
              <a:lnSpc>
                <a:spcPct val="100000"/>
              </a:lnSpc>
              <a:spcBef>
                <a:spcPts val="620"/>
              </a:spcBef>
            </a:pPr>
            <a:r>
              <a:rPr sz="2600" dirty="0">
                <a:latin typeface="Yu Gothic"/>
                <a:cs typeface="Yu Gothic"/>
              </a:rPr>
              <a:t>Plan,</a:t>
            </a:r>
            <a:r>
              <a:rPr sz="2600" spc="-2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Define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your</a:t>
            </a:r>
            <a:r>
              <a:rPr sz="2600" spc="-50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requirement</a:t>
            </a:r>
            <a:endParaRPr sz="260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772160" algn="l"/>
                <a:tab pos="1666875" algn="l"/>
                <a:tab pos="2059939" algn="l"/>
              </a:tabLst>
            </a:pPr>
            <a:r>
              <a:rPr sz="2600" spc="-25" dirty="0">
                <a:latin typeface="Yu Gothic"/>
                <a:cs typeface="Yu Gothic"/>
              </a:rPr>
              <a:t>7/</a:t>
            </a:r>
            <a:r>
              <a:rPr lang="en-US" sz="2600" spc="-25" dirty="0">
                <a:latin typeface="Yu Gothic"/>
                <a:cs typeface="Yu Gothic"/>
              </a:rPr>
              <a:t>9</a:t>
            </a:r>
            <a:r>
              <a:rPr sz="2600" dirty="0">
                <a:latin typeface="Yu Gothic"/>
                <a:cs typeface="Yu Gothic"/>
              </a:rPr>
              <a:t>	実</a:t>
            </a:r>
            <a:r>
              <a:rPr sz="2600" spc="-50" dirty="0">
                <a:latin typeface="Yu Gothic"/>
                <a:cs typeface="Yu Gothic"/>
              </a:rPr>
              <a:t>装</a:t>
            </a:r>
            <a:r>
              <a:rPr sz="2600" dirty="0">
                <a:latin typeface="Yu Gothic"/>
                <a:cs typeface="Yu Gothic"/>
              </a:rPr>
              <a:t>	</a:t>
            </a:r>
            <a:r>
              <a:rPr sz="2600" spc="-50" dirty="0">
                <a:latin typeface="Yu Gothic"/>
                <a:cs typeface="Yu Gothic"/>
              </a:rPr>
              <a:t>/</a:t>
            </a:r>
            <a:r>
              <a:rPr sz="2600" dirty="0">
                <a:latin typeface="Yu Gothic"/>
                <a:cs typeface="Yu Gothic"/>
              </a:rPr>
              <a:t>	</a:t>
            </a:r>
            <a:r>
              <a:rPr sz="2600" spc="-10" dirty="0">
                <a:latin typeface="Yu Gothic"/>
                <a:cs typeface="Yu Gothic"/>
              </a:rPr>
              <a:t>Implementation</a:t>
            </a:r>
            <a:endParaRPr sz="260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600" dirty="0">
                <a:latin typeface="Yu Gothic"/>
                <a:cs typeface="Yu Gothic"/>
              </a:rPr>
              <a:t>7/10</a:t>
            </a:r>
            <a:r>
              <a:rPr sz="2600" spc="-20" dirty="0">
                <a:latin typeface="Yu Gothic"/>
                <a:cs typeface="Yu Gothic"/>
              </a:rPr>
              <a:t> 実装 / </a:t>
            </a:r>
            <a:r>
              <a:rPr sz="2600" spc="-10" dirty="0">
                <a:latin typeface="Yu Gothic"/>
                <a:cs typeface="Yu Gothic"/>
              </a:rPr>
              <a:t>Implementation</a:t>
            </a:r>
            <a:endParaRPr sz="260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600" dirty="0">
                <a:latin typeface="Yu Gothic"/>
                <a:cs typeface="Yu Gothic"/>
              </a:rPr>
              <a:t>7/1</a:t>
            </a:r>
            <a:r>
              <a:rPr lang="en-US" sz="2600" dirty="0">
                <a:latin typeface="Yu Gothic"/>
                <a:cs typeface="Yu Gothic"/>
              </a:rPr>
              <a:t>4</a:t>
            </a:r>
            <a:r>
              <a:rPr sz="2600" spc="-25" dirty="0">
                <a:latin typeface="Yu Gothic"/>
                <a:cs typeface="Yu Gothic"/>
              </a:rPr>
              <a:t> 実装、テスト / </a:t>
            </a:r>
            <a:r>
              <a:rPr sz="2600" dirty="0">
                <a:latin typeface="Yu Gothic"/>
                <a:cs typeface="Yu Gothic"/>
              </a:rPr>
              <a:t>Implementation</a:t>
            </a:r>
            <a:r>
              <a:rPr sz="2600" spc="-3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and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spc="-20" dirty="0">
                <a:latin typeface="Yu Gothic"/>
                <a:cs typeface="Yu Gothic"/>
              </a:rPr>
              <a:t>test</a:t>
            </a:r>
            <a:endParaRPr sz="2600" dirty="0">
              <a:latin typeface="Yu Gothic"/>
              <a:cs typeface="Yu Gothic"/>
            </a:endParaRPr>
          </a:p>
          <a:p>
            <a:pPr marL="12700" marR="1141730">
              <a:lnSpc>
                <a:spcPct val="124900"/>
              </a:lnSpc>
              <a:spcBef>
                <a:spcPts val="620"/>
              </a:spcBef>
            </a:pPr>
            <a:r>
              <a:rPr sz="2600" dirty="0">
                <a:latin typeface="Yu Gothic"/>
                <a:cs typeface="Yu Gothic"/>
              </a:rPr>
              <a:t>7/1</a:t>
            </a:r>
            <a:r>
              <a:rPr lang="en-US" sz="2600" dirty="0">
                <a:latin typeface="Yu Gothic"/>
                <a:cs typeface="Yu Gothic"/>
              </a:rPr>
              <a:t>6</a:t>
            </a:r>
            <a:r>
              <a:rPr sz="2600" spc="-20" dirty="0">
                <a:latin typeface="Yu Gothic"/>
                <a:cs typeface="Yu Gothic"/>
              </a:rPr>
              <a:t> プレゼンテーション作成/</a:t>
            </a:r>
            <a:r>
              <a:rPr sz="2600" dirty="0">
                <a:latin typeface="Yu Gothic"/>
                <a:cs typeface="Yu Gothic"/>
              </a:rPr>
              <a:t>Make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spc="-50" dirty="0">
                <a:latin typeface="Yu Gothic"/>
                <a:cs typeface="Yu Gothic"/>
              </a:rPr>
              <a:t>a </a:t>
            </a:r>
            <a:r>
              <a:rPr sz="2600" dirty="0">
                <a:latin typeface="Yu Gothic"/>
                <a:cs typeface="Yu Gothic"/>
              </a:rPr>
              <a:t>presentation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materials</a:t>
            </a:r>
            <a:endParaRPr sz="260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600">
                <a:latin typeface="Yu Gothic"/>
                <a:cs typeface="Yu Gothic"/>
              </a:rPr>
              <a:t>7/1</a:t>
            </a:r>
            <a:r>
              <a:rPr lang="en-US" sz="2600">
                <a:latin typeface="Yu Gothic"/>
                <a:cs typeface="Yu Gothic"/>
              </a:rPr>
              <a:t>7</a:t>
            </a:r>
            <a:r>
              <a:rPr sz="2600" spc="-20">
                <a:latin typeface="Yu Gothic"/>
                <a:cs typeface="Yu Gothic"/>
              </a:rPr>
              <a:t> </a:t>
            </a:r>
            <a:r>
              <a:rPr sz="2600" spc="-20" dirty="0">
                <a:latin typeface="Yu Gothic"/>
                <a:cs typeface="Yu Gothic"/>
              </a:rPr>
              <a:t>成果発表会 / </a:t>
            </a:r>
            <a:r>
              <a:rPr sz="2600" spc="-10" dirty="0">
                <a:latin typeface="Yu Gothic"/>
                <a:cs typeface="Yu Gothic"/>
              </a:rPr>
              <a:t>Presentaiotn</a:t>
            </a:r>
            <a:endParaRPr sz="2600" dirty="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5971" y="3366515"/>
            <a:ext cx="1816607" cy="15209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063" y="1633727"/>
            <a:ext cx="2242185" cy="5125720"/>
            <a:chOff x="131063" y="1633727"/>
            <a:chExt cx="2242185" cy="5125720"/>
          </a:xfrm>
        </p:grpSpPr>
        <p:sp>
          <p:nvSpPr>
            <p:cNvPr id="4" name="object 4"/>
            <p:cNvSpPr/>
            <p:nvPr/>
          </p:nvSpPr>
          <p:spPr>
            <a:xfrm>
              <a:off x="551687" y="1633727"/>
              <a:ext cx="457200" cy="4434840"/>
            </a:xfrm>
            <a:custGeom>
              <a:avLst/>
              <a:gdLst/>
              <a:ahLst/>
              <a:cxnLst/>
              <a:rect l="l" t="t" r="r" b="b"/>
              <a:pathLst>
                <a:path w="457200" h="4434840">
                  <a:moveTo>
                    <a:pt x="342900" y="0"/>
                  </a:moveTo>
                  <a:lnTo>
                    <a:pt x="114300" y="0"/>
                  </a:lnTo>
                  <a:lnTo>
                    <a:pt x="114300" y="4206240"/>
                  </a:lnTo>
                  <a:lnTo>
                    <a:pt x="0" y="4206240"/>
                  </a:lnTo>
                  <a:lnTo>
                    <a:pt x="228600" y="4434840"/>
                  </a:lnTo>
                  <a:lnTo>
                    <a:pt x="457200" y="4206240"/>
                  </a:lnTo>
                  <a:lnTo>
                    <a:pt x="342900" y="420624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1063" y="6071336"/>
              <a:ext cx="2242185" cy="687705"/>
            </a:xfrm>
            <a:custGeom>
              <a:avLst/>
              <a:gdLst/>
              <a:ahLst/>
              <a:cxnLst/>
              <a:rect l="l" t="t" r="r" b="b"/>
              <a:pathLst>
                <a:path w="2242185" h="687704">
                  <a:moveTo>
                    <a:pt x="619721" y="0"/>
                  </a:moveTo>
                  <a:lnTo>
                    <a:pt x="373634" y="175539"/>
                  </a:lnTo>
                  <a:lnTo>
                    <a:pt x="0" y="175539"/>
                  </a:lnTo>
                  <a:lnTo>
                    <a:pt x="0" y="687603"/>
                  </a:lnTo>
                  <a:lnTo>
                    <a:pt x="2241804" y="687603"/>
                  </a:lnTo>
                  <a:lnTo>
                    <a:pt x="2241804" y="175539"/>
                  </a:lnTo>
                  <a:lnTo>
                    <a:pt x="934085" y="175539"/>
                  </a:lnTo>
                  <a:lnTo>
                    <a:pt x="619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5414" y="281762"/>
            <a:ext cx="84493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 Light"/>
                <a:cs typeface="Calibri Light"/>
              </a:rPr>
              <a:t>Software</a:t>
            </a:r>
            <a:r>
              <a:rPr sz="3600" spc="-11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System</a:t>
            </a:r>
            <a:r>
              <a:rPr sz="3600" spc="-9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Model:</a:t>
            </a:r>
            <a:r>
              <a:rPr sz="3600" spc="-7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Stepwise</a:t>
            </a:r>
            <a:r>
              <a:rPr sz="3600" spc="-12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Refinement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3358" y="642741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0220" y="1010411"/>
            <a:ext cx="5201411" cy="4785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0220" y="1010411"/>
            <a:ext cx="5201920" cy="478790"/>
          </a:xfrm>
          <a:prstGeom prst="rect">
            <a:avLst/>
          </a:prstGeom>
          <a:ln w="6096">
            <a:solidFill>
              <a:srgbClr val="4471C4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cooking…..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2867" y="1778507"/>
            <a:ext cx="3025139" cy="47853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72867" y="1778507"/>
            <a:ext cx="3025140" cy="478790"/>
          </a:xfrm>
          <a:prstGeom prst="rect">
            <a:avLst/>
          </a:prstGeom>
          <a:ln w="6096">
            <a:solidFill>
              <a:srgbClr val="4471C4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measure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8328" y="2318004"/>
            <a:ext cx="2209800" cy="838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148328" y="2318004"/>
            <a:ext cx="2209800" cy="838200"/>
          </a:xfrm>
          <a:prstGeom prst="rect">
            <a:avLst/>
          </a:prstGeom>
          <a:ln w="6096">
            <a:solidFill>
              <a:srgbClr val="4471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05"/>
              </a:lnSpc>
            </a:pP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notify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has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elapsed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993" y="6339636"/>
            <a:ext cx="1946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Stepwise</a:t>
            </a:r>
            <a:r>
              <a:rPr sz="1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refinement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21143" y="4981085"/>
            <a:ext cx="2051050" cy="1554480"/>
            <a:chOff x="3521143" y="4981085"/>
            <a:chExt cx="2051050" cy="155448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1143" y="4981085"/>
              <a:ext cx="2051040" cy="1554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1588" y="5001767"/>
              <a:ext cx="1979676" cy="148437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768083" y="1594103"/>
            <a:ext cx="1685925" cy="1565275"/>
            <a:chOff x="6768083" y="1594103"/>
            <a:chExt cx="1685925" cy="156527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1131" y="1597151"/>
              <a:ext cx="1679448" cy="15590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71131" y="1597151"/>
              <a:ext cx="1679575" cy="1559560"/>
            </a:xfrm>
            <a:custGeom>
              <a:avLst/>
              <a:gdLst/>
              <a:ahLst/>
              <a:cxnLst/>
              <a:rect l="l" t="t" r="r" b="b"/>
              <a:pathLst>
                <a:path w="1679575" h="1559560">
                  <a:moveTo>
                    <a:pt x="0" y="353440"/>
                  </a:moveTo>
                  <a:lnTo>
                    <a:pt x="839724" y="0"/>
                  </a:lnTo>
                  <a:lnTo>
                    <a:pt x="1679448" y="353440"/>
                  </a:lnTo>
                  <a:lnTo>
                    <a:pt x="1349883" y="353440"/>
                  </a:lnTo>
                  <a:lnTo>
                    <a:pt x="1349883" y="1205610"/>
                  </a:lnTo>
                  <a:lnTo>
                    <a:pt x="1679448" y="1205610"/>
                  </a:lnTo>
                  <a:lnTo>
                    <a:pt x="839724" y="1559052"/>
                  </a:lnTo>
                  <a:lnTo>
                    <a:pt x="0" y="1205610"/>
                  </a:lnTo>
                  <a:lnTo>
                    <a:pt x="329565" y="1205610"/>
                  </a:lnTo>
                  <a:lnTo>
                    <a:pt x="329565" y="353440"/>
                  </a:lnTo>
                  <a:lnTo>
                    <a:pt x="0" y="353440"/>
                  </a:lnTo>
                  <a:close/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06233" y="1937765"/>
            <a:ext cx="8102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What </a:t>
            </a:r>
            <a:r>
              <a:rPr sz="1800" spc="-25" dirty="0">
                <a:latin typeface="Calibri"/>
                <a:cs typeface="Calibri"/>
              </a:rPr>
              <a:t>(Require </a:t>
            </a:r>
            <a:r>
              <a:rPr sz="1800" spc="-10" dirty="0">
                <a:latin typeface="Calibri"/>
                <a:cs typeface="Calibri"/>
              </a:rPr>
              <a:t>ment)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71131" y="3241548"/>
            <a:ext cx="1679575" cy="1560830"/>
          </a:xfrm>
          <a:custGeom>
            <a:avLst/>
            <a:gdLst/>
            <a:ahLst/>
            <a:cxnLst/>
            <a:rect l="l" t="t" r="r" b="b"/>
            <a:pathLst>
              <a:path w="1679575" h="1560829">
                <a:moveTo>
                  <a:pt x="839724" y="0"/>
                </a:moveTo>
                <a:lnTo>
                  <a:pt x="0" y="353822"/>
                </a:lnTo>
                <a:lnTo>
                  <a:pt x="329565" y="353822"/>
                </a:lnTo>
                <a:lnTo>
                  <a:pt x="329565" y="1206754"/>
                </a:lnTo>
                <a:lnTo>
                  <a:pt x="0" y="1206754"/>
                </a:lnTo>
                <a:lnTo>
                  <a:pt x="839724" y="1560576"/>
                </a:lnTo>
                <a:lnTo>
                  <a:pt x="1679448" y="1206754"/>
                </a:lnTo>
                <a:lnTo>
                  <a:pt x="1349883" y="1206754"/>
                </a:lnTo>
                <a:lnTo>
                  <a:pt x="1349883" y="353822"/>
                </a:lnTo>
                <a:lnTo>
                  <a:pt x="1679448" y="353822"/>
                </a:lnTo>
                <a:lnTo>
                  <a:pt x="839724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27569" y="3720210"/>
            <a:ext cx="767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002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(design)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17792" y="4885931"/>
            <a:ext cx="1790700" cy="1668780"/>
            <a:chOff x="6717792" y="4885931"/>
            <a:chExt cx="1790700" cy="166878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7792" y="4885931"/>
              <a:ext cx="1790319" cy="1668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7352" y="5321807"/>
              <a:ext cx="1208163" cy="86376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77228" y="4925567"/>
              <a:ext cx="1680972" cy="156057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192771" y="5404815"/>
            <a:ext cx="8502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ntation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6363" y="1614373"/>
            <a:ext cx="797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Abstract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7089" y="5505703"/>
            <a:ext cx="970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Concreate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4086"/>
            <a:ext cx="83946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手順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2837"/>
            <a:ext cx="7718425" cy="4703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527685" algn="l"/>
              </a:tabLst>
            </a:pPr>
            <a:r>
              <a:rPr sz="2600" spc="-15" dirty="0">
                <a:latin typeface="Yu Gothic"/>
                <a:cs typeface="Yu Gothic"/>
              </a:rPr>
              <a:t>実現したいことを決める</a:t>
            </a:r>
            <a:endParaRPr sz="2600">
              <a:latin typeface="Yu Gothic"/>
              <a:cs typeface="Yu Gothic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Yu Gothic"/>
                <a:cs typeface="Yu Gothic"/>
              </a:rPr>
              <a:t>Decide</a:t>
            </a:r>
            <a:r>
              <a:rPr sz="2600" spc="-4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what</a:t>
            </a:r>
            <a:r>
              <a:rPr sz="2600" spc="-3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you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want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to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implement.</a:t>
            </a:r>
            <a:endParaRPr sz="2600">
              <a:latin typeface="Yu Gothic"/>
              <a:cs typeface="Yu Gothic"/>
            </a:endParaRPr>
          </a:p>
          <a:p>
            <a:pPr marL="527685" indent="-514984">
              <a:lnSpc>
                <a:spcPct val="100000"/>
              </a:lnSpc>
              <a:spcBef>
                <a:spcPts val="620"/>
              </a:spcBef>
              <a:buAutoNum type="arabicPeriod" startAt="2"/>
              <a:tabLst>
                <a:tab pos="527685" algn="l"/>
              </a:tabLst>
            </a:pPr>
            <a:r>
              <a:rPr sz="2600" spc="-20" dirty="0">
                <a:latin typeface="Yu Gothic"/>
                <a:cs typeface="Yu Gothic"/>
              </a:rPr>
              <a:t>実現したいことを具体的なシナリオにする</a:t>
            </a:r>
            <a:endParaRPr sz="2600">
              <a:latin typeface="Yu Gothic"/>
              <a:cs typeface="Yu Gothic"/>
            </a:endParaRPr>
          </a:p>
          <a:p>
            <a:pPr marL="527685">
              <a:lnSpc>
                <a:spcPct val="100000"/>
              </a:lnSpc>
            </a:pPr>
            <a:r>
              <a:rPr sz="2600" dirty="0">
                <a:latin typeface="Yu Gothic"/>
                <a:cs typeface="Yu Gothic"/>
              </a:rPr>
              <a:t>Make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concrete</a:t>
            </a:r>
            <a:r>
              <a:rPr sz="2600" spc="-6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scenario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of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spc="-25" dirty="0">
                <a:latin typeface="Yu Gothic"/>
                <a:cs typeface="Yu Gothic"/>
              </a:rPr>
              <a:t>it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spc="-20" dirty="0">
                <a:latin typeface="Yu Gothic"/>
                <a:cs typeface="Yu Gothic"/>
              </a:rPr>
              <a:t>→ フローチャートや箇条書きで振る舞いを表現する</a:t>
            </a:r>
            <a:endParaRPr sz="2600">
              <a:latin typeface="Yu Gothic"/>
              <a:cs typeface="Yu Gothic"/>
            </a:endParaRPr>
          </a:p>
          <a:p>
            <a:pPr marL="12700" marR="187325" indent="467995">
              <a:lnSpc>
                <a:spcPct val="100000"/>
              </a:lnSpc>
            </a:pPr>
            <a:r>
              <a:rPr sz="2600" dirty="0">
                <a:latin typeface="Yu Gothic"/>
                <a:cs typeface="Yu Gothic"/>
              </a:rPr>
              <a:t>Use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flowcharts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or</a:t>
            </a:r>
            <a:r>
              <a:rPr sz="2600" spc="-5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bullet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points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to</a:t>
            </a:r>
            <a:r>
              <a:rPr sz="2600" spc="-3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describe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spc="-25" dirty="0">
                <a:latin typeface="Yu Gothic"/>
                <a:cs typeface="Yu Gothic"/>
              </a:rPr>
              <a:t>the </a:t>
            </a:r>
            <a:r>
              <a:rPr sz="2600" dirty="0">
                <a:latin typeface="Yu Gothic"/>
                <a:cs typeface="Yu Gothic"/>
              </a:rPr>
              <a:t>overall</a:t>
            </a:r>
            <a:r>
              <a:rPr sz="2600" spc="-110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behaviors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20" dirty="0">
                <a:latin typeface="Yu Gothic"/>
                <a:cs typeface="Yu Gothic"/>
              </a:rPr>
              <a:t>→ ストーリーボードなどで表現する</a:t>
            </a:r>
            <a:endParaRPr sz="2600">
              <a:latin typeface="Yu Gothic"/>
              <a:cs typeface="Yu Gothic"/>
            </a:endParaRPr>
          </a:p>
          <a:p>
            <a:pPr marL="480695">
              <a:lnSpc>
                <a:spcPct val="100000"/>
              </a:lnSpc>
            </a:pPr>
            <a:r>
              <a:rPr sz="2600" dirty="0">
                <a:latin typeface="Yu Gothic"/>
                <a:cs typeface="Yu Gothic"/>
              </a:rPr>
              <a:t>Draw</a:t>
            </a:r>
            <a:r>
              <a:rPr sz="2600" spc="-2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</a:t>
            </a:r>
            <a:r>
              <a:rPr sz="2600" spc="-2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story</a:t>
            </a:r>
            <a:r>
              <a:rPr sz="2600" spc="-10" dirty="0">
                <a:latin typeface="Yu Gothic"/>
                <a:cs typeface="Yu Gothic"/>
              </a:rPr>
              <a:t> board</a:t>
            </a:r>
            <a:endParaRPr sz="2600">
              <a:latin typeface="Yu Gothic"/>
              <a:cs typeface="Yu Gothic"/>
            </a:endParaRPr>
          </a:p>
          <a:p>
            <a:pPr marL="527685" indent="-514984">
              <a:lnSpc>
                <a:spcPct val="100000"/>
              </a:lnSpc>
              <a:spcBef>
                <a:spcPts val="625"/>
              </a:spcBef>
              <a:buAutoNum type="arabicPeriod" startAt="3"/>
              <a:tabLst>
                <a:tab pos="527685" algn="l"/>
              </a:tabLst>
            </a:pPr>
            <a:r>
              <a:rPr sz="2600" spc="-15" dirty="0">
                <a:latin typeface="Yu Gothic"/>
                <a:cs typeface="Yu Gothic"/>
              </a:rPr>
              <a:t>実現方法を検討する</a:t>
            </a:r>
            <a:endParaRPr sz="2600">
              <a:latin typeface="Yu Gothic"/>
              <a:cs typeface="Yu Gothic"/>
            </a:endParaRPr>
          </a:p>
          <a:p>
            <a:pPr marL="527685">
              <a:lnSpc>
                <a:spcPct val="100000"/>
              </a:lnSpc>
            </a:pPr>
            <a:r>
              <a:rPr sz="2600" dirty="0">
                <a:latin typeface="Yu Gothic"/>
                <a:cs typeface="Yu Gothic"/>
              </a:rPr>
              <a:t>Consider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how</a:t>
            </a:r>
            <a:r>
              <a:rPr sz="2600" spc="-4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to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implement</a:t>
            </a:r>
            <a:r>
              <a:rPr sz="2600" spc="-45" dirty="0">
                <a:latin typeface="Yu Gothic"/>
                <a:cs typeface="Yu Gothic"/>
              </a:rPr>
              <a:t> </a:t>
            </a:r>
            <a:r>
              <a:rPr sz="2600" spc="-20" dirty="0">
                <a:latin typeface="Yu Gothic"/>
                <a:cs typeface="Yu Gothic"/>
              </a:rPr>
              <a:t>them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4086"/>
            <a:ext cx="61258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ストーリーボードなどで表現する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2837"/>
            <a:ext cx="7954645" cy="422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latin typeface="Yu Gothic"/>
                <a:cs typeface="Yu Gothic"/>
              </a:rPr>
              <a:t>絵を使ってユーザがどのようにシステムを使用するの</a:t>
            </a:r>
            <a:r>
              <a:rPr sz="2600" spc="-15" dirty="0">
                <a:latin typeface="Yu Gothic"/>
                <a:cs typeface="Yu Gothic"/>
              </a:rPr>
              <a:t>かをストーリ仕立てで表現したもの</a:t>
            </a:r>
            <a:endParaRPr sz="2600">
              <a:latin typeface="Yu Gothic"/>
              <a:cs typeface="Yu Gothic"/>
            </a:endParaRPr>
          </a:p>
          <a:p>
            <a:pPr marL="355600" marR="247015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Yu Gothic"/>
                <a:cs typeface="Yu Gothic"/>
              </a:rPr>
              <a:t>Describe</a:t>
            </a:r>
            <a:r>
              <a:rPr sz="2600" spc="-2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story</a:t>
            </a:r>
            <a:r>
              <a:rPr sz="2600" spc="-1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using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pictures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about</a:t>
            </a:r>
            <a:r>
              <a:rPr sz="2600" spc="-1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how</a:t>
            </a:r>
            <a:r>
              <a:rPr sz="2600" spc="-2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users </a:t>
            </a:r>
            <a:r>
              <a:rPr sz="2600" dirty="0">
                <a:latin typeface="Yu Gothic"/>
                <a:cs typeface="Yu Gothic"/>
              </a:rPr>
              <a:t>use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the</a:t>
            </a:r>
            <a:r>
              <a:rPr sz="2600" spc="-1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system</a:t>
            </a:r>
            <a:endParaRPr sz="2600">
              <a:latin typeface="Yu Gothic"/>
              <a:cs typeface="Yu Gothic"/>
            </a:endParaRPr>
          </a:p>
          <a:p>
            <a:pPr marL="416559" indent="-403860">
              <a:lnSpc>
                <a:spcPct val="100000"/>
              </a:lnSpc>
              <a:spcBef>
                <a:spcPts val="4370"/>
              </a:spcBef>
              <a:buAutoNum type="arabicParenR"/>
              <a:tabLst>
                <a:tab pos="416559" algn="l"/>
              </a:tabLst>
            </a:pPr>
            <a:r>
              <a:rPr sz="2600" spc="-15" dirty="0">
                <a:latin typeface="Yu Gothic"/>
                <a:cs typeface="Yu Gothic"/>
              </a:rPr>
              <a:t>シーンの移り変わりを大まかに書く</a:t>
            </a:r>
            <a:endParaRPr sz="2600">
              <a:latin typeface="Yu Gothic"/>
              <a:cs typeface="Yu Gothic"/>
            </a:endParaRPr>
          </a:p>
          <a:p>
            <a:pPr marL="355600">
              <a:lnSpc>
                <a:spcPct val="100000"/>
              </a:lnSpc>
            </a:pPr>
            <a:r>
              <a:rPr sz="2600" dirty="0">
                <a:latin typeface="Yu Gothic"/>
                <a:cs typeface="Yu Gothic"/>
              </a:rPr>
              <a:t>Write</a:t>
            </a:r>
            <a:r>
              <a:rPr sz="2600" spc="-1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scenes</a:t>
            </a:r>
            <a:r>
              <a:rPr sz="2600" spc="-2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and</a:t>
            </a:r>
            <a:r>
              <a:rPr sz="2600" spc="-1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their</a:t>
            </a:r>
            <a:r>
              <a:rPr sz="2600" spc="-10" dirty="0">
                <a:latin typeface="Yu Gothic"/>
                <a:cs typeface="Yu Gothic"/>
              </a:rPr>
              <a:t> transitions</a:t>
            </a:r>
            <a:endParaRPr sz="2600">
              <a:latin typeface="Yu Gothic"/>
              <a:cs typeface="Yu Gothic"/>
            </a:endParaRPr>
          </a:p>
          <a:p>
            <a:pPr marL="355600" marR="337820" indent="-342900">
              <a:lnSpc>
                <a:spcPct val="100000"/>
              </a:lnSpc>
              <a:spcBef>
                <a:spcPts val="625"/>
              </a:spcBef>
              <a:buAutoNum type="arabicParenR" startAt="2"/>
              <a:tabLst>
                <a:tab pos="355600" algn="l"/>
                <a:tab pos="416559" algn="l"/>
              </a:tabLst>
            </a:pPr>
            <a:r>
              <a:rPr sz="2600" dirty="0">
                <a:latin typeface="Yu Gothic"/>
                <a:cs typeface="Yu Gothic"/>
              </a:rPr>
              <a:t>	各シーンの詳細を（</a:t>
            </a:r>
            <a:r>
              <a:rPr sz="2600" spc="-15" dirty="0">
                <a:latin typeface="Yu Gothic"/>
                <a:cs typeface="Yu Gothic"/>
              </a:rPr>
              <a:t>できれば絵で）</a:t>
            </a:r>
            <a:r>
              <a:rPr sz="2600" spc="-20" dirty="0">
                <a:latin typeface="Yu Gothic"/>
                <a:cs typeface="Yu Gothic"/>
              </a:rPr>
              <a:t>表現する</a:t>
            </a:r>
            <a:r>
              <a:rPr sz="2600" spc="-5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Express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the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details</a:t>
            </a:r>
            <a:r>
              <a:rPr sz="2600" spc="-4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of</a:t>
            </a:r>
            <a:r>
              <a:rPr sz="2600" spc="-3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each</a:t>
            </a:r>
            <a:r>
              <a:rPr sz="2600" spc="-6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scene</a:t>
            </a:r>
            <a:r>
              <a:rPr sz="2600" spc="-20" dirty="0">
                <a:latin typeface="Yu Gothic"/>
                <a:cs typeface="Yu Gothic"/>
              </a:rPr>
              <a:t> (</a:t>
            </a:r>
            <a:r>
              <a:rPr sz="2600" dirty="0">
                <a:latin typeface="Yu Gothic"/>
                <a:cs typeface="Yu Gothic"/>
              </a:rPr>
              <a:t>preferably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spc="-25" dirty="0">
                <a:latin typeface="Yu Gothic"/>
                <a:cs typeface="Yu Gothic"/>
              </a:rPr>
              <a:t>in </a:t>
            </a:r>
            <a:r>
              <a:rPr sz="2600" spc="-10" dirty="0">
                <a:latin typeface="Yu Gothic"/>
                <a:cs typeface="Yu Gothic"/>
              </a:rPr>
              <a:t>pictures)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ストーリーボードなどで表現する(例)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479" y="1489953"/>
            <a:ext cx="6044752" cy="43026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17441" y="6298226"/>
            <a:ext cx="4316095" cy="556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3"/>
              </a:rPr>
              <a:t>https://docs.microsoft.com/en-us/previous-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3"/>
              </a:rPr>
              <a:t>versions/msdn10/ff800706(v=msdn.10)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ストーリーボードなどで表現する(例)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23" y="1480475"/>
            <a:ext cx="6558519" cy="45736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17441" y="6298226"/>
            <a:ext cx="4316095" cy="556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3"/>
              </a:rPr>
              <a:t>https://docs.microsoft.com/en-us/previous-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3"/>
              </a:rPr>
              <a:t>versions/msdn10/ff800706(v=msdn.10)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25"/>
              </a:lnSpc>
            </a:pPr>
            <a:r>
              <a:rPr spc="-50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設計: 実現方法を考える / 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25"/>
              </a:lnSpc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3805"/>
            <a:ext cx="6749415" cy="4782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spc="-25" dirty="0">
                <a:latin typeface="Yu Gothic"/>
                <a:cs typeface="Yu Gothic"/>
              </a:rPr>
              <a:t>なにを使用すれば実現できるかを検討する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dirty="0">
                <a:latin typeface="Yu Gothic"/>
                <a:cs typeface="Yu Gothic"/>
              </a:rPr>
              <a:t>Consider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what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could</a:t>
            </a:r>
            <a:r>
              <a:rPr sz="2600" spc="-3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be</a:t>
            </a:r>
            <a:r>
              <a:rPr sz="2600" spc="-30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used</a:t>
            </a:r>
            <a:r>
              <a:rPr sz="2600" spc="-5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to</a:t>
            </a:r>
            <a:r>
              <a:rPr sz="2600" spc="-25" dirty="0">
                <a:latin typeface="Yu Gothic"/>
                <a:cs typeface="Yu Gothic"/>
              </a:rPr>
              <a:t> </a:t>
            </a:r>
            <a:r>
              <a:rPr sz="2600" dirty="0">
                <a:latin typeface="Yu Gothic"/>
                <a:cs typeface="Yu Gothic"/>
              </a:rPr>
              <a:t>achieve</a:t>
            </a:r>
            <a:r>
              <a:rPr sz="2600" spc="-40" dirty="0">
                <a:latin typeface="Yu Gothic"/>
                <a:cs typeface="Yu Gothic"/>
              </a:rPr>
              <a:t> </a:t>
            </a:r>
            <a:r>
              <a:rPr sz="2600" spc="-20" dirty="0">
                <a:latin typeface="Yu Gothic"/>
                <a:cs typeface="Yu Gothic"/>
              </a:rPr>
              <a:t>this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0" dirty="0">
                <a:latin typeface="Yu Gothic"/>
                <a:cs typeface="Yu Gothic"/>
              </a:rPr>
              <a:t>LED表示 / </a:t>
            </a:r>
            <a:r>
              <a:rPr sz="2600" spc="-25" dirty="0">
                <a:latin typeface="Yu Gothic"/>
                <a:cs typeface="Yu Gothic"/>
              </a:rPr>
              <a:t>LED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5" dirty="0">
                <a:latin typeface="Yu Gothic"/>
                <a:cs typeface="Yu Gothic"/>
              </a:rPr>
              <a:t>ボタン入力 / </a:t>
            </a:r>
            <a:r>
              <a:rPr sz="2600" spc="-10" dirty="0">
                <a:latin typeface="Yu Gothic"/>
                <a:cs typeface="Yu Gothic"/>
              </a:rPr>
              <a:t>Button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0" dirty="0">
                <a:latin typeface="Yu Gothic"/>
                <a:cs typeface="Yu Gothic"/>
              </a:rPr>
              <a:t>タイマ / Timer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50" dirty="0">
                <a:latin typeface="Yu Gothic"/>
                <a:cs typeface="Yu Gothic"/>
              </a:rPr>
              <a:t>…</a:t>
            </a:r>
            <a:endParaRPr sz="26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3200"/>
              </a:spcBef>
              <a:buFont typeface="Wingdings"/>
              <a:buChar char=""/>
            </a:pP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2600" spc="-15" dirty="0">
                <a:latin typeface="Yu Gothic"/>
                <a:cs typeface="Yu Gothic"/>
              </a:rPr>
              <a:t>(オプショナル)</a:t>
            </a:r>
            <a:endParaRPr sz="2600">
              <a:latin typeface="Yu Gothic"/>
              <a:cs typeface="Yu Gothic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/>
              <a:buChar char=""/>
              <a:tabLst>
                <a:tab pos="469900" algn="l"/>
              </a:tabLst>
            </a:pPr>
            <a:r>
              <a:rPr sz="2600" spc="-10" dirty="0">
                <a:latin typeface="Yu Gothic"/>
                <a:cs typeface="Yu Gothic"/>
              </a:rPr>
              <a:t>ハードウェアの追加 / </a:t>
            </a:r>
            <a:r>
              <a:rPr sz="2600" dirty="0">
                <a:latin typeface="Yu Gothic"/>
                <a:cs typeface="Yu Gothic"/>
              </a:rPr>
              <a:t>Add</a:t>
            </a:r>
            <a:r>
              <a:rPr sz="2600" spc="-25" dirty="0">
                <a:latin typeface="Yu Gothic"/>
                <a:cs typeface="Yu Gothic"/>
              </a:rPr>
              <a:t> </a:t>
            </a:r>
            <a:r>
              <a:rPr sz="2600" spc="-10" dirty="0">
                <a:latin typeface="Yu Gothic"/>
                <a:cs typeface="Yu Gothic"/>
              </a:rPr>
              <a:t>hardware</a:t>
            </a:r>
            <a:endParaRPr sz="2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65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成果発表会 / </a:t>
            </a:r>
            <a:r>
              <a:rPr spc="-10" dirty="0"/>
              <a:t>Presentation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25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69900" algn="l"/>
              </a:tabLst>
            </a:pPr>
            <a:r>
              <a:rPr dirty="0"/>
              <a:t>5</a:t>
            </a:r>
            <a:r>
              <a:rPr spc="-25" dirty="0"/>
              <a:t> </a:t>
            </a:r>
            <a:r>
              <a:rPr dirty="0"/>
              <a:t>min</a:t>
            </a:r>
            <a:r>
              <a:rPr spc="-1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1</a:t>
            </a:r>
            <a:r>
              <a:rPr spc="-25" dirty="0"/>
              <a:t> </a:t>
            </a:r>
            <a:r>
              <a:rPr spc="-20" dirty="0"/>
              <a:t>team</a:t>
            </a: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469900" algn="l"/>
              </a:tabLst>
            </a:pPr>
            <a:r>
              <a:rPr spc="-15" dirty="0"/>
              <a:t>内容 / </a:t>
            </a:r>
            <a:r>
              <a:rPr dirty="0"/>
              <a:t>Excepted</a:t>
            </a:r>
            <a:r>
              <a:rPr spc="-20" dirty="0"/>
              <a:t> </a:t>
            </a:r>
            <a:r>
              <a:rPr spc="-10" dirty="0"/>
              <a:t>contents</a:t>
            </a:r>
          </a:p>
          <a:p>
            <a:pPr marL="870585" lvl="1" indent="-4572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870585" algn="l"/>
              </a:tabLst>
            </a:pPr>
            <a:r>
              <a:rPr sz="2000" spc="-5" dirty="0">
                <a:latin typeface="Yu Gothic"/>
                <a:cs typeface="Yu Gothic"/>
              </a:rPr>
              <a:t>作ったものの概要 / </a:t>
            </a:r>
            <a:r>
              <a:rPr sz="2000" dirty="0">
                <a:latin typeface="Yu Gothic"/>
                <a:cs typeface="Yu Gothic"/>
              </a:rPr>
              <a:t>Overview</a:t>
            </a:r>
            <a:r>
              <a:rPr sz="2000" spc="-4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of</a:t>
            </a:r>
            <a:r>
              <a:rPr sz="2000" spc="-5" dirty="0">
                <a:latin typeface="Yu Gothic"/>
                <a:cs typeface="Yu Gothic"/>
              </a:rPr>
              <a:t> </a:t>
            </a:r>
            <a:r>
              <a:rPr sz="2000" dirty="0">
                <a:latin typeface="Yu Gothic"/>
                <a:cs typeface="Yu Gothic"/>
              </a:rPr>
              <a:t>your</a:t>
            </a:r>
            <a:r>
              <a:rPr sz="2000" spc="5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system</a:t>
            </a:r>
            <a:endParaRPr sz="2000">
              <a:latin typeface="Yu Gothic"/>
              <a:cs typeface="Yu Gothic"/>
            </a:endParaRPr>
          </a:p>
          <a:p>
            <a:pPr marL="870585" lvl="1" indent="-4572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70585" algn="l"/>
              </a:tabLst>
            </a:pPr>
            <a:r>
              <a:rPr sz="2000" spc="-15" dirty="0">
                <a:latin typeface="Yu Gothic"/>
                <a:cs typeface="Yu Gothic"/>
              </a:rPr>
              <a:t>デモムービー / </a:t>
            </a:r>
            <a:r>
              <a:rPr sz="2000" dirty="0">
                <a:latin typeface="Yu Gothic"/>
                <a:cs typeface="Yu Gothic"/>
              </a:rPr>
              <a:t>Demo</a:t>
            </a:r>
            <a:r>
              <a:rPr sz="2000" spc="-5" dirty="0">
                <a:latin typeface="Yu Gothic"/>
                <a:cs typeface="Yu Gothic"/>
              </a:rPr>
              <a:t> </a:t>
            </a:r>
            <a:r>
              <a:rPr sz="2000" spc="-10" dirty="0">
                <a:latin typeface="Yu Gothic"/>
                <a:cs typeface="Yu Gothic"/>
              </a:rPr>
              <a:t>movie</a:t>
            </a:r>
            <a:endParaRPr sz="2000">
              <a:latin typeface="Yu Gothic"/>
              <a:cs typeface="Yu Gothic"/>
            </a:endParaRPr>
          </a:p>
          <a:p>
            <a:pPr marL="870585" lvl="1" indent="-4572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870585" algn="l"/>
              </a:tabLst>
            </a:pPr>
            <a:r>
              <a:rPr sz="2000" spc="-5" dirty="0">
                <a:latin typeface="Yu Gothic"/>
                <a:cs typeface="Yu Gothic"/>
              </a:rPr>
              <a:t>要求分析、設計の過程</a:t>
            </a:r>
            <a:endParaRPr sz="2000">
              <a:latin typeface="Yu Gothic"/>
              <a:cs typeface="Yu Gothic"/>
            </a:endParaRPr>
          </a:p>
          <a:p>
            <a:pPr marL="870585">
              <a:lnSpc>
                <a:spcPct val="100000"/>
              </a:lnSpc>
            </a:pPr>
            <a:r>
              <a:rPr sz="2000" dirty="0"/>
              <a:t>Process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requirement</a:t>
            </a:r>
            <a:r>
              <a:rPr sz="2000" spc="-40" dirty="0"/>
              <a:t> </a:t>
            </a:r>
            <a:r>
              <a:rPr sz="2000" dirty="0"/>
              <a:t>analysis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5" dirty="0"/>
              <a:t> </a:t>
            </a:r>
            <a:r>
              <a:rPr sz="2000" spc="-10" dirty="0"/>
              <a:t>design</a:t>
            </a:r>
            <a:endParaRPr sz="2000"/>
          </a:p>
          <a:p>
            <a:pPr marL="870585" lvl="1" indent="-4572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70585" algn="l"/>
              </a:tabLst>
            </a:pPr>
            <a:r>
              <a:rPr sz="2000" spc="-10" dirty="0">
                <a:latin typeface="Yu Gothic"/>
                <a:cs typeface="Yu Gothic"/>
              </a:rPr>
              <a:t>工夫した点</a:t>
            </a:r>
            <a:endParaRPr sz="2000">
              <a:latin typeface="Yu Gothic"/>
              <a:cs typeface="Yu Gothic"/>
            </a:endParaRPr>
          </a:p>
          <a:p>
            <a:pPr marL="870585">
              <a:lnSpc>
                <a:spcPct val="100000"/>
              </a:lnSpc>
            </a:pPr>
            <a:r>
              <a:rPr sz="2000" dirty="0"/>
              <a:t>Point</a:t>
            </a:r>
            <a:r>
              <a:rPr sz="2000" spc="-30" dirty="0"/>
              <a:t> </a:t>
            </a:r>
            <a:r>
              <a:rPr sz="2000" dirty="0"/>
              <a:t>you</a:t>
            </a:r>
            <a:r>
              <a:rPr sz="2000" spc="-20" dirty="0"/>
              <a:t> </a:t>
            </a:r>
            <a:r>
              <a:rPr sz="2000" dirty="0"/>
              <a:t>thought</a:t>
            </a:r>
            <a:r>
              <a:rPr sz="2000" spc="-2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work</a:t>
            </a:r>
            <a:r>
              <a:rPr sz="2000" spc="-35" dirty="0"/>
              <a:t> </a:t>
            </a:r>
            <a:r>
              <a:rPr sz="2000" spc="-25" dirty="0"/>
              <a:t>out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415</Words>
  <Application>Microsoft Office PowerPoint</Application>
  <PresentationFormat>画面に合わせる (4:3)</PresentationFormat>
  <Paragraphs>102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Arial</vt:lpstr>
      <vt:lpstr>Calibri</vt:lpstr>
      <vt:lpstr>Calibri Light</vt:lpstr>
      <vt:lpstr>Wingdings</vt:lpstr>
      <vt:lpstr>Office Theme</vt:lpstr>
      <vt:lpstr>基礎PBL II / Basic PBL II</vt:lpstr>
      <vt:lpstr>基礎PBL II / Basic PBL II</vt:lpstr>
      <vt:lpstr>プロジェクト / Project</vt:lpstr>
      <vt:lpstr>開発例 / Examples</vt:lpstr>
      <vt:lpstr>スケジュール / Schedule</vt:lpstr>
      <vt:lpstr>Software System Model: Stepwise Refinement</vt:lpstr>
      <vt:lpstr>手順</vt:lpstr>
      <vt:lpstr>ストーリーボードなどで表現する</vt:lpstr>
      <vt:lpstr>ストーリーボードなどで表現する(例)</vt:lpstr>
      <vt:lpstr>ストーリーボードなどで表現する(例)</vt:lpstr>
      <vt:lpstr>設計: 実現方法を考える / Design</vt:lpstr>
      <vt:lpstr>成果発表会 /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UIプロジェクトX</dc:title>
  <dc:creator>Ihara . lab</dc:creator>
  <cp:lastModifiedBy>裕介 松永</cp:lastModifiedBy>
  <cp:revision>1</cp:revision>
  <dcterms:created xsi:type="dcterms:W3CDTF">2025-04-30T05:58:49Z</dcterms:created>
  <dcterms:modified xsi:type="dcterms:W3CDTF">2025-04-30T06:00:40Z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2025-04-30T00:00:00Z</vt:filetime>
  </property>
  <property fmtid="{D5CDD505-2E9C-101B-9397-08002B2CF9AE}" pid="5" name="Producer">
    <vt:lpwstr>3-Heights(TM) PDF Security Shell 4.8.25.2 (http://www.pdf-tools.com)</vt:lpwstr>
  </property>
</Properties>
</file>